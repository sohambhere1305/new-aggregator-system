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68" r:id="rId5"/>
    <p:sldId id="257" r:id="rId6"/>
    <p:sldId id="259" r:id="rId7"/>
    <p:sldId id="258" r:id="rId8"/>
    <p:sldId id="269" r:id="rId9"/>
    <p:sldId id="263" r:id="rId10"/>
    <p:sldId id="260" r:id="rId11"/>
    <p:sldId id="262" r:id="rId12"/>
    <p:sldId id="267" r:id="rId13"/>
    <p:sldId id="270" r:id="rId14"/>
    <p:sldId id="271" r:id="rId15"/>
    <p:sldId id="272" r:id="rId16"/>
    <p:sldId id="275" r:id="rId17"/>
    <p:sldId id="274" r:id="rId18"/>
    <p:sldId id="264" r:id="rId19"/>
    <p:sldId id="265" r:id="rId2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82" userDrawn="1">
          <p15:clr>
            <a:srgbClr val="A4A3A4"/>
          </p15:clr>
        </p15:guide>
        <p15:guide id="2" pos="29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98640C6-5562-4F8E-A5B3-0FC9532D65AC}" styleName="Table_0">
    <a:wholeTbl>
      <a:tcTxStyle>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howGuides="1">
      <p:cViewPr varScale="1">
        <p:scale>
          <a:sx n="67" d="100"/>
          <a:sy n="67" d="100"/>
        </p:scale>
        <p:origin x="1854" y="78"/>
      </p:cViewPr>
      <p:guideLst>
        <p:guide orient="horz" pos="2182"/>
        <p:guide pos="291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93" name="Google Shape;9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93" name="Google Shape;9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3" name="Google Shape;11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1" name="Google Shape;10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24" name="Google Shape;12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7"/>
        <p:cNvGrpSpPr/>
        <p:nvPr/>
      </p:nvGrpSpPr>
      <p:grpSpPr>
        <a:xfrm>
          <a:off x="0" y="0"/>
          <a:ext cx="0" cy="0"/>
          <a:chOff x="0" y="0"/>
          <a:chExt cx="0" cy="0"/>
        </a:xfrm>
      </p:grpSpPr>
      <p:sp>
        <p:nvSpPr>
          <p:cNvPr id="158" name="Google Shape;15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9" name="Google Shape;15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7"/>
        <p:cNvGrpSpPr/>
        <p:nvPr/>
      </p:nvGrpSpPr>
      <p:grpSpPr>
        <a:xfrm>
          <a:off x="0" y="0"/>
          <a:ext cx="0" cy="0"/>
          <a:chOff x="0" y="0"/>
          <a:chExt cx="0" cy="0"/>
        </a:xfrm>
      </p:grpSpPr>
      <p:sp>
        <p:nvSpPr>
          <p:cNvPr id="158" name="Google Shape;15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9" name="Google Shape;15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7"/>
        <p:cNvGrpSpPr/>
        <p:nvPr/>
      </p:nvGrpSpPr>
      <p:grpSpPr>
        <a:xfrm>
          <a:off x="0" y="0"/>
          <a:ext cx="0" cy="0"/>
          <a:chOff x="0" y="0"/>
          <a:chExt cx="0" cy="0"/>
        </a:xfrm>
      </p:grpSpPr>
      <p:sp>
        <p:nvSpPr>
          <p:cNvPr id="158" name="Google Shape;15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9" name="Google Shape;15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g23d7fb9bf72_0_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3d7fb9bf72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g23d7fb9bf72_0_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3d7fb9bf72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8" name="Google Shape;19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8" name="Google Shape;19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8" name="Google Shape;19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5"/>
        <p:cNvGrpSpPr/>
        <p:nvPr/>
      </p:nvGrpSpPr>
      <p:grpSpPr>
        <a:xfrm>
          <a:off x="0" y="0"/>
          <a:ext cx="0" cy="0"/>
          <a:chOff x="0" y="0"/>
          <a:chExt cx="0" cy="0"/>
        </a:xfrm>
      </p:grpSpPr>
      <p:sp>
        <p:nvSpPr>
          <p:cNvPr id="206" name="Google Shape;2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7"/>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a:spLocks noGrp="1"/>
          </p:cNvSpPr>
          <p:nvPr>
            <p:ph type="subTitle" idx="1"/>
          </p:nvPr>
        </p:nvSpPr>
        <p:spPr>
          <a:xfrm>
            <a:off x="-1" y="3886200"/>
            <a:ext cx="9114181" cy="2961861"/>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888888"/>
              </a:buClr>
              <a:buSzPts val="2400"/>
              <a:buNone/>
              <a:defRPr>
                <a:solidFill>
                  <a:srgbClr val="888888"/>
                </a:solidFill>
              </a:defRPr>
            </a:lvl1pPr>
            <a:lvl2pPr lvl="1" algn="ctr">
              <a:spcBef>
                <a:spcPts val="420"/>
              </a:spcBef>
              <a:spcAft>
                <a:spcPts val="0"/>
              </a:spcAft>
              <a:buClr>
                <a:srgbClr val="888888"/>
              </a:buClr>
              <a:buSzPts val="21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14" name="Google Shape;14;p2"/>
          <p:cNvSpPr txBox="1">
            <a:spLocks noGrp="1"/>
          </p:cNvSpPr>
          <p:nvPr>
            <p:ph type="dt" idx="10"/>
          </p:nvPr>
        </p:nvSpPr>
        <p:spPr>
          <a:xfrm>
            <a:off x="29819" y="6425925"/>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FF0000"/>
                </a:solidFill>
                <a:latin typeface="Times New Roman" panose="02020603050405020304"/>
                <a:ea typeface="Times New Roman" panose="02020603050405020304"/>
                <a:cs typeface="Times New Roman" panose="02020603050405020304"/>
                <a:sym typeface="Times New Roman" panose="020206030504050203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a:spLocks noGrp="1"/>
          </p:cNvSpPr>
          <p:nvPr>
            <p:ph type="ftr" idx="11"/>
          </p:nvPr>
        </p:nvSpPr>
        <p:spPr>
          <a:xfrm>
            <a:off x="2378768" y="6406047"/>
            <a:ext cx="5135216" cy="42213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b="0" i="1">
                <a:solidFill>
                  <a:srgbClr val="FF0000"/>
                </a:solidFill>
                <a:latin typeface="Times New Roman" panose="02020603050405020304"/>
                <a:ea typeface="Times New Roman" panose="02020603050405020304"/>
                <a:cs typeface="Times New Roman" panose="02020603050405020304"/>
                <a:sym typeface="Times New Roman" panose="020206030504050203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16" name="Google Shape;16;p2"/>
          <p:cNvPicPr preferRelativeResize="0"/>
          <p:nvPr/>
        </p:nvPicPr>
        <p:blipFill rotWithShape="1">
          <a:blip r:embed="rId2"/>
          <a:srcRect l="15227" r="15963"/>
          <a:stretch>
            <a:fillRect/>
          </a:stretch>
        </p:blipFill>
        <p:spPr>
          <a:xfrm>
            <a:off x="24848" y="9939"/>
            <a:ext cx="1197666" cy="123245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a:spLocks noGrp="1"/>
          </p:cNvSpPr>
          <p:nvPr>
            <p:ph type="body" idx="1"/>
          </p:nvPr>
        </p:nvSpPr>
        <p:spPr>
          <a:xfrm>
            <a:off x="457200" y="1600202"/>
            <a:ext cx="40386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25" algn="l">
              <a:spcBef>
                <a:spcPts val="270"/>
              </a:spcBef>
              <a:spcAft>
                <a:spcPts val="0"/>
              </a:spcAft>
              <a:buClr>
                <a:schemeClr val="dk1"/>
              </a:buClr>
              <a:buSzPts val="1350"/>
              <a:buChar char="–"/>
              <a:defRPr sz="1350"/>
            </a:lvl4pPr>
            <a:lvl5pPr marL="2286000" lvl="4" indent="-314325" algn="l">
              <a:spcBef>
                <a:spcPts val="270"/>
              </a:spcBef>
              <a:spcAft>
                <a:spcPts val="0"/>
              </a:spcAft>
              <a:buClr>
                <a:schemeClr val="dk1"/>
              </a:buClr>
              <a:buSzPts val="1350"/>
              <a:buChar char="»"/>
              <a:defRPr sz="1350"/>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p:txBody>
      </p:sp>
      <p:sp>
        <p:nvSpPr>
          <p:cNvPr id="32" name="Google Shape;32;p5"/>
          <p:cNvSpPr txBox="1">
            <a:spLocks noGrp="1"/>
          </p:cNvSpPr>
          <p:nvPr>
            <p:ph type="body" idx="2"/>
          </p:nvPr>
        </p:nvSpPr>
        <p:spPr>
          <a:xfrm>
            <a:off x="4648200" y="1600202"/>
            <a:ext cx="40386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25" algn="l">
              <a:spcBef>
                <a:spcPts val="270"/>
              </a:spcBef>
              <a:spcAft>
                <a:spcPts val="0"/>
              </a:spcAft>
              <a:buClr>
                <a:schemeClr val="dk1"/>
              </a:buClr>
              <a:buSzPts val="1350"/>
              <a:buChar char="–"/>
              <a:defRPr sz="1350"/>
            </a:lvl4pPr>
            <a:lvl5pPr marL="2286000" lvl="4" indent="-314325" algn="l">
              <a:spcBef>
                <a:spcPts val="270"/>
              </a:spcBef>
              <a:spcAft>
                <a:spcPts val="0"/>
              </a:spcAft>
              <a:buClr>
                <a:schemeClr val="dk1"/>
              </a:buClr>
              <a:buSzPts val="1350"/>
              <a:buChar char="»"/>
              <a:defRPr sz="1350"/>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p:txBody>
      </p:sp>
      <p:sp>
        <p:nvSpPr>
          <p:cNvPr id="33" name="Google Shape;33;p5"/>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3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0"/>
              <a:buNone/>
              <a:defRPr sz="1350"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p:txBody>
      </p:sp>
      <p:sp>
        <p:nvSpPr>
          <p:cNvPr id="39" name="Google Shape;3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25" algn="l">
              <a:spcBef>
                <a:spcPts val="270"/>
              </a:spcBef>
              <a:spcAft>
                <a:spcPts val="0"/>
              </a:spcAft>
              <a:buClr>
                <a:schemeClr val="dk1"/>
              </a:buClr>
              <a:buSzPts val="1350"/>
              <a:buChar char="•"/>
              <a:defRPr sz="1350"/>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p:txBody>
      </p:sp>
      <p:sp>
        <p:nvSpPr>
          <p:cNvPr id="40" name="Google Shape;40;p6"/>
          <p:cNvSpPr txBox="1">
            <a:spLocks noGrp="1"/>
          </p:cNvSpPr>
          <p:nvPr>
            <p:ph type="body" idx="3"/>
          </p:nvPr>
        </p:nvSpPr>
        <p:spPr>
          <a:xfrm>
            <a:off x="4645026"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0"/>
              <a:buNone/>
              <a:defRPr sz="1350"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p:txBody>
      </p:sp>
      <p:sp>
        <p:nvSpPr>
          <p:cNvPr id="41" name="Google Shape;41;p6"/>
          <p:cNvSpPr txBox="1">
            <a:spLocks noGrp="1"/>
          </p:cNvSpPr>
          <p:nvPr>
            <p:ph type="body" idx="4"/>
          </p:nvPr>
        </p:nvSpPr>
        <p:spPr>
          <a:xfrm>
            <a:off x="4645026" y="2174875"/>
            <a:ext cx="4041775"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25" algn="l">
              <a:spcBef>
                <a:spcPts val="270"/>
              </a:spcBef>
              <a:spcAft>
                <a:spcPts val="0"/>
              </a:spcAft>
              <a:buClr>
                <a:schemeClr val="dk1"/>
              </a:buClr>
              <a:buSzPts val="1350"/>
              <a:buChar char="•"/>
              <a:defRPr sz="1350"/>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p:txBody>
      </p:sp>
      <p:sp>
        <p:nvSpPr>
          <p:cNvPr id="42" name="Google Shape;42;p6"/>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1"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Calibri" panose="020F0502020204030204"/>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a:spLocks noGrp="1"/>
          </p:cNvSpPr>
          <p:nvPr>
            <p:ph type="body" idx="1"/>
          </p:nvPr>
        </p:nvSpPr>
        <p:spPr>
          <a:xfrm>
            <a:off x="3575050" y="273052"/>
            <a:ext cx="5111750" cy="585311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61950" algn="l">
              <a:spcBef>
                <a:spcPts val="420"/>
              </a:spcBef>
              <a:spcAft>
                <a:spcPts val="0"/>
              </a:spcAft>
              <a:buClr>
                <a:schemeClr val="dk1"/>
              </a:buClr>
              <a:buSzPts val="2100"/>
              <a:buChar char="–"/>
              <a:defRPr sz="2100"/>
            </a:lvl2pPr>
            <a:lvl3pPr marL="1371600" lvl="2" indent="-342900" algn="l">
              <a:spcBef>
                <a:spcPts val="360"/>
              </a:spcBef>
              <a:spcAft>
                <a:spcPts val="0"/>
              </a:spcAft>
              <a:buClr>
                <a:schemeClr val="dk1"/>
              </a:buClr>
              <a:buSzPts val="1800"/>
              <a:buChar char="•"/>
              <a:defRPr sz="18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p:txBody>
      </p:sp>
      <p:sp>
        <p:nvSpPr>
          <p:cNvPr id="57" name="Google Shape;57;p9"/>
          <p:cNvSpPr txBox="1">
            <a:spLocks noGrp="1"/>
          </p:cNvSpPr>
          <p:nvPr>
            <p:ph type="body" idx="2"/>
          </p:nvPr>
        </p:nvSpPr>
        <p:spPr>
          <a:xfrm>
            <a:off x="457201" y="1435102"/>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0"/>
              <a:buNone/>
              <a:defRPr sz="1050"/>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0"/>
              <a:buNone/>
              <a:defRPr sz="750"/>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p:txBody>
      </p:sp>
      <p:sp>
        <p:nvSpPr>
          <p:cNvPr id="58" name="Google Shape;58;p9"/>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Calibri" panose="020F0502020204030204"/>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0"/>
              <a:buNone/>
              <a:defRPr sz="1050"/>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0"/>
              <a:buNone/>
              <a:defRPr sz="750"/>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p:txBody>
      </p:sp>
      <p:sp>
        <p:nvSpPr>
          <p:cNvPr id="65" name="Google Shape;65;p10"/>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a:spLocks noGrp="1"/>
          </p:cNvSpPr>
          <p:nvPr>
            <p:ph type="body" idx="1"/>
          </p:nvPr>
        </p:nvSpPr>
        <p:spPr>
          <a:xfrm rot="5400000">
            <a:off x="2309019" y="-251617"/>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3"/>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a:spLocks noGrp="1"/>
          </p:cNvSpPr>
          <p:nvPr>
            <p:ph type="body" idx="1"/>
          </p:nvPr>
        </p:nvSpPr>
        <p:spPr>
          <a:xfrm rot="5400000">
            <a:off x="541338" y="190502"/>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3300"/>
              <a:buFont typeface="Calibri" panose="020F0502020204030204"/>
              <a:buNone/>
              <a:defRPr sz="3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a:spLocks noGrp="1"/>
          </p:cNvSpPr>
          <p:nvPr>
            <p:ph type="body" idx="1"/>
          </p:nvPr>
        </p:nvSpPr>
        <p:spPr>
          <a:xfrm>
            <a:off x="457200" y="1600202"/>
            <a:ext cx="8229600" cy="4525963"/>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61950" algn="l" rtl="0">
              <a:spcBef>
                <a:spcPts val="420"/>
              </a:spcBef>
              <a:spcAft>
                <a:spcPts val="0"/>
              </a:spcAft>
              <a:buClr>
                <a:schemeClr val="dk1"/>
              </a:buClr>
              <a:buSzPts val="2100"/>
              <a:buFont typeface="Arial" panose="020B0604020202020204"/>
              <a:buChar char="–"/>
              <a:defRPr sz="2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hyperlink" Target="https://inspiringlab.com.np/build-a-news-aggregator-like-google-news/?utm_source=chatgpt.com"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365925" y="5092448"/>
            <a:ext cx="8412149" cy="107827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Guided by: </a:t>
            </a:r>
            <a:endPar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Dr./Prof. </a:t>
            </a:r>
            <a:endPara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5" name="Google Shape;85;p13"/>
          <p:cNvSpPr/>
          <p:nvPr/>
        </p:nvSpPr>
        <p:spPr>
          <a:xfrm>
            <a:off x="917126" y="228768"/>
            <a:ext cx="7739744" cy="1371432"/>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US" sz="25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Department of Computer Science and Design</a:t>
            </a:r>
            <a:endParaRPr dirty="0"/>
          </a:p>
          <a:p>
            <a:pPr marL="0" marR="0" lvl="0" indent="0" algn="ctr" rtl="0">
              <a:spcBef>
                <a:spcPts val="0"/>
              </a:spcBef>
              <a:spcAft>
                <a:spcPts val="0"/>
              </a:spcAft>
              <a:buNone/>
            </a:pPr>
            <a:r>
              <a:rPr lang="en-US" sz="25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New Horizon Institute of Technology and Management</a:t>
            </a:r>
            <a:endParaRPr dirty="0"/>
          </a:p>
          <a:p>
            <a:pPr marL="0" marR="0" lvl="0" indent="0" algn="ctr" rtl="0">
              <a:spcBef>
                <a:spcPts val="0"/>
              </a:spcBef>
              <a:spcAft>
                <a:spcPts val="0"/>
              </a:spcAft>
              <a:buNone/>
            </a:pPr>
            <a:r>
              <a:rPr lang="en-US" sz="25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University of Mumbai</a:t>
            </a:r>
            <a:endParaRPr lang="en-US" sz="25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lang="en-US" sz="2550" b="1" dirty="0">
              <a:solidFill>
                <a:schemeClr val="dk1"/>
              </a:solidFill>
              <a:latin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dirty="0"/>
          </a:p>
          <a:p>
            <a:pPr marL="0" marR="0" lvl="0" indent="0" algn="ctr" rtl="0">
              <a:spcBef>
                <a:spcPts val="0"/>
              </a:spcBef>
              <a:spcAft>
                <a:spcPts val="0"/>
              </a:spcAft>
              <a:buNone/>
            </a:pPr>
            <a:endParaRPr sz="25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5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 name="Google Shape;86;p13"/>
          <p:cNvSpPr txBox="1"/>
          <p:nvPr/>
        </p:nvSpPr>
        <p:spPr>
          <a:xfrm>
            <a:off x="-115698" y="1754301"/>
            <a:ext cx="9113700" cy="615900"/>
          </a:xfrm>
          <a:prstGeom prst="rect">
            <a:avLst/>
          </a:prstGeom>
          <a:noFill/>
          <a:ln>
            <a:noFill/>
          </a:ln>
        </p:spPr>
        <p:txBody>
          <a:bodyPr spcFirstLastPara="1" wrap="square" lIns="68550" tIns="68550" rIns="68550" bIns="68550" anchor="ctr" anchorCtr="0">
            <a:noAutofit/>
          </a:bodyPr>
          <a:lstStyle/>
          <a:p>
            <a:pPr marL="0" marR="0" lvl="0" indent="0" algn="ctr" rtl="0">
              <a:spcBef>
                <a:spcPts val="0"/>
              </a:spcBef>
              <a:spcAft>
                <a:spcPts val="0"/>
              </a:spcAft>
              <a:buNone/>
            </a:pPr>
            <a:r>
              <a:rPr lang="en-US" sz="3200" b="1" i="1" dirty="0">
                <a:solidFill>
                  <a:srgbClr val="00B050"/>
                </a:solidFill>
                <a:latin typeface="Times New Roman" panose="02020603050405020304"/>
                <a:ea typeface="Times New Roman" panose="02020603050405020304"/>
                <a:cs typeface="Times New Roman" panose="02020603050405020304"/>
                <a:sym typeface="Times New Roman" panose="02020603050405020304"/>
              </a:rPr>
              <a:t>“NEWS AGGREGATOR SYSTEM”</a:t>
            </a:r>
            <a:endParaRPr lang="en-US" sz="3200" b="1" i="1" u="none" strike="noStrike" cap="none" dirty="0">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87" name="Google Shape;87;p13"/>
          <p:cNvGraphicFramePr/>
          <p:nvPr>
            <p:custDataLst>
              <p:tags r:id="rId1"/>
            </p:custDataLst>
          </p:nvPr>
        </p:nvGraphicFramePr>
        <p:xfrm>
          <a:off x="380999" y="2649708"/>
          <a:ext cx="8540750" cy="3752850"/>
        </p:xfrm>
        <a:graphic>
          <a:graphicData uri="http://schemas.openxmlformats.org/drawingml/2006/table">
            <a:tbl>
              <a:tblPr firstRow="1" firstCol="1" bandRow="1">
                <a:noFill/>
                <a:tableStyleId>{D98640C6-5562-4F8E-A5B3-0FC9532D65AC}</a:tableStyleId>
              </a:tblPr>
              <a:tblGrid>
                <a:gridCol w="1972310"/>
                <a:gridCol w="3893185"/>
                <a:gridCol w="2675255"/>
              </a:tblGrid>
              <a:tr h="383540">
                <a:tc>
                  <a:txBody>
                    <a:bodyPr/>
                    <a:lstStyle/>
                    <a:p>
                      <a:pPr marL="0" marR="0" lvl="0" indent="0" algn="ctr" rtl="0">
                        <a:spcBef>
                          <a:spcPts val="0"/>
                        </a:spcBef>
                        <a:spcAft>
                          <a:spcPts val="0"/>
                        </a:spcAft>
                        <a:buNone/>
                      </a:pPr>
                      <a:r>
                        <a:rPr lang="en-US" sz="2400" b="1" u="none" strike="noStrike" cap="none" dirty="0">
                          <a:latin typeface="Times New Roman" panose="02020603050405020304"/>
                          <a:ea typeface="Times New Roman" panose="02020603050405020304"/>
                          <a:cs typeface="Times New Roman" panose="02020603050405020304"/>
                          <a:sym typeface="Times New Roman" panose="02020603050405020304"/>
                        </a:rPr>
                        <a:t>Sr. No.</a:t>
                      </a:r>
                      <a:endParaRPr sz="18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ctr" rtl="0">
                        <a:spcBef>
                          <a:spcPts val="0"/>
                        </a:spcBef>
                        <a:spcAft>
                          <a:spcPts val="0"/>
                        </a:spcAft>
                        <a:buNone/>
                      </a:pPr>
                      <a:r>
                        <a:rPr lang="en-US" sz="2400" b="1" u="none" strike="noStrike" cap="none" dirty="0">
                          <a:latin typeface="Times New Roman" panose="02020603050405020304"/>
                          <a:ea typeface="Times New Roman" panose="02020603050405020304"/>
                          <a:cs typeface="Times New Roman" panose="02020603050405020304"/>
                          <a:sym typeface="Times New Roman" panose="02020603050405020304"/>
                        </a:rPr>
                        <a:t>Name of the Student</a:t>
                      </a:r>
                      <a:endParaRPr sz="18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ctr" rtl="0">
                        <a:spcBef>
                          <a:spcPts val="0"/>
                        </a:spcBef>
                        <a:spcAft>
                          <a:spcPts val="0"/>
                        </a:spcAft>
                        <a:buNone/>
                      </a:pPr>
                      <a:r>
                        <a:rPr lang="en-US" sz="2400" b="1" u="none" strike="noStrike" cap="none">
                          <a:latin typeface="Times New Roman" panose="02020603050405020304"/>
                          <a:ea typeface="Times New Roman" panose="02020603050405020304"/>
                          <a:cs typeface="Times New Roman" panose="02020603050405020304"/>
                          <a:sym typeface="Times New Roman" panose="02020603050405020304"/>
                        </a:rPr>
                        <a:t>IEN No.</a:t>
                      </a:r>
                      <a:endParaRPr sz="18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r>
              <a:tr h="2120265">
                <a:tc>
                  <a:txBody>
                    <a:bodyPr/>
                    <a:lstStyle/>
                    <a:p>
                      <a:pPr marL="0" marR="0" lvl="0" indent="0" algn="ctr" rtl="0">
                        <a:lnSpc>
                          <a:spcPct val="115000"/>
                        </a:lnSpc>
                        <a:spcBef>
                          <a:spcPts val="0"/>
                        </a:spcBef>
                        <a:spcAft>
                          <a:spcPts val="0"/>
                        </a:spcAft>
                        <a:buNone/>
                      </a:pPr>
                      <a:r>
                        <a:rPr lang="en-US" sz="2500" u="none" strike="noStrike" cap="none" dirty="0">
                          <a:latin typeface="Times New Roman" panose="02020603050405020304"/>
                          <a:ea typeface="Times New Roman" panose="02020603050405020304"/>
                          <a:cs typeface="Times New Roman" panose="02020603050405020304"/>
                          <a:sym typeface="Times New Roman" panose="02020603050405020304"/>
                        </a:rPr>
                        <a:t>1</a:t>
                      </a:r>
                      <a:endParaRPr sz="2500" u="none" strike="noStrike" cap="none"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None/>
                      </a:pPr>
                      <a:r>
                        <a:rPr lang="en-US" sz="2500" dirty="0">
                          <a:latin typeface="Times New Roman" panose="02020603050405020304"/>
                          <a:ea typeface="Times New Roman" panose="02020603050405020304"/>
                          <a:cs typeface="Times New Roman" panose="02020603050405020304"/>
                          <a:sym typeface="Times New Roman" panose="02020603050405020304"/>
                        </a:rPr>
                        <a:t>2</a:t>
                      </a:r>
                      <a:endParaRPr sz="2500"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None/>
                      </a:pPr>
                      <a:r>
                        <a:rPr lang="en-US" sz="2500" dirty="0">
                          <a:latin typeface="Times New Roman" panose="02020603050405020304"/>
                          <a:ea typeface="Times New Roman" panose="02020603050405020304"/>
                          <a:cs typeface="Times New Roman" panose="02020603050405020304"/>
                          <a:sym typeface="Times New Roman" panose="02020603050405020304"/>
                        </a:rPr>
                        <a:t>3</a:t>
                      </a:r>
                      <a:endParaRPr sz="2500"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None/>
                      </a:pPr>
                      <a:r>
                        <a:rPr lang="en-US" sz="2500" dirty="0">
                          <a:latin typeface="Times New Roman" panose="02020603050405020304"/>
                          <a:ea typeface="Times New Roman" panose="02020603050405020304"/>
                          <a:cs typeface="Times New Roman" panose="02020603050405020304"/>
                          <a:sym typeface="Times New Roman" panose="02020603050405020304"/>
                        </a:rPr>
                        <a:t>4</a:t>
                      </a:r>
                      <a:endParaRPr sz="2500"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12700" marR="12700" lvl="0" indent="0" algn="ctr" rtl="0">
                        <a:lnSpc>
                          <a:spcPct val="115000"/>
                        </a:lnSpc>
                        <a:spcBef>
                          <a:spcPts val="100"/>
                        </a:spcBef>
                        <a:spcAft>
                          <a:spcPts val="0"/>
                        </a:spcAft>
                        <a:buClr>
                          <a:schemeClr val="dk1"/>
                        </a:buClr>
                        <a:buSzPts val="1100"/>
                        <a:buFont typeface="Arial" panose="020B0604020202020204"/>
                        <a:buNone/>
                      </a:pPr>
                      <a:r>
                        <a:rPr lang="en-US" sz="2400" dirty="0">
                          <a:latin typeface="Times New Roman" panose="02020603050405020304"/>
                          <a:ea typeface="Times New Roman" panose="02020603050405020304"/>
                          <a:cs typeface="Times New Roman" panose="02020603050405020304"/>
                          <a:sym typeface="Times New Roman" panose="02020603050405020304"/>
                        </a:rPr>
                        <a:t>Disha Birari</a:t>
                      </a: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12700" marR="12700" lvl="0" indent="0" algn="ctr" rtl="0">
                        <a:lnSpc>
                          <a:spcPct val="115000"/>
                        </a:lnSpc>
                        <a:spcBef>
                          <a:spcPts val="100"/>
                        </a:spcBef>
                        <a:spcAft>
                          <a:spcPts val="0"/>
                        </a:spcAft>
                        <a:buClr>
                          <a:schemeClr val="dk1"/>
                        </a:buClr>
                        <a:buSzPts val="1100"/>
                        <a:buFont typeface="Arial" panose="020B0604020202020204"/>
                        <a:buNone/>
                      </a:pPr>
                      <a:r>
                        <a:rPr lang="en-US" sz="2400" dirty="0">
                          <a:latin typeface="Times New Roman" panose="02020603050405020304"/>
                          <a:ea typeface="Times New Roman" panose="02020603050405020304"/>
                          <a:cs typeface="Times New Roman" panose="02020603050405020304"/>
                          <a:sym typeface="Times New Roman" panose="02020603050405020304"/>
                        </a:rPr>
                        <a:t>Bhakti Patil</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12700" marR="12700" lvl="0" indent="0" algn="just" defTabSz="914400" rtl="0" eaLnBrk="1" fontAlgn="auto" latinLnBrk="0" hangingPunct="1">
                        <a:lnSpc>
                          <a:spcPct val="115000"/>
                        </a:lnSpc>
                        <a:spcBef>
                          <a:spcPts val="100"/>
                        </a:spcBef>
                        <a:spcAft>
                          <a:spcPts val="0"/>
                        </a:spcAft>
                        <a:buClr>
                          <a:schemeClr val="dk1"/>
                        </a:buClr>
                        <a:buSzPts val="1100"/>
                        <a:buFont typeface="Arial" panose="020B0604020202020204"/>
                        <a:buNone/>
                        <a:defRPr/>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IN" sz="2400" b="0" i="0" u="none" strike="noStrike" cap="none" dirty="0">
                          <a:solidFill>
                            <a:schemeClr val="dk1"/>
                          </a:solidFill>
                          <a:effectLst/>
                          <a:latin typeface="Times New Roman" panose="02020603050405020304" pitchFamily="18" charset="0"/>
                          <a:ea typeface="Calibri" panose="020F0502020204030204"/>
                          <a:cs typeface="Times New Roman" panose="02020603050405020304" pitchFamily="18" charset="0"/>
                          <a:sym typeface="Arial" panose="020B0604020202020204"/>
                        </a:rPr>
                        <a:t>Soham Bhere</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2400" strike="noStrike" cap="none" dirty="0" err="1">
                          <a:latin typeface="Times New Roman" panose="02020603050405020304"/>
                          <a:ea typeface="Times New Roman" panose="02020603050405020304"/>
                          <a:cs typeface="Times New Roman" panose="02020603050405020304"/>
                          <a:sym typeface="Times New Roman" panose="02020603050405020304"/>
                        </a:rPr>
                        <a:t>    Shafe</a:t>
                      </a:r>
                      <a:r>
                        <a:rPr lang="en-US" sz="2400" strike="noStrike" cap="none" dirty="0">
                          <a:latin typeface="Times New Roman" panose="02020603050405020304"/>
                          <a:ea typeface="Times New Roman" panose="02020603050405020304"/>
                          <a:cs typeface="Times New Roman" panose="02020603050405020304"/>
                          <a:sym typeface="Times New Roman" panose="02020603050405020304"/>
                        </a:rPr>
                        <a:t> </a:t>
                      </a:r>
                      <a:r>
                        <a:rPr lang="en-US" sz="2400" strike="noStrike" cap="none" dirty="0" err="1">
                          <a:latin typeface="Times New Roman" panose="02020603050405020304"/>
                          <a:ea typeface="Times New Roman" panose="02020603050405020304"/>
                          <a:cs typeface="Times New Roman" panose="02020603050405020304"/>
                          <a:sym typeface="Times New Roman" panose="02020603050405020304"/>
                        </a:rPr>
                        <a:t>ahemad</a:t>
                      </a:r>
                      <a:r>
                        <a:rPr lang="en-US" sz="2400" strike="noStrike" cap="none" dirty="0">
                          <a:latin typeface="Times New Roman" panose="02020603050405020304"/>
                          <a:ea typeface="Times New Roman" panose="02020603050405020304"/>
                          <a:cs typeface="Times New Roman" panose="02020603050405020304"/>
                          <a:sym typeface="Times New Roman" panose="02020603050405020304"/>
                        </a:rPr>
                        <a:t> </a:t>
                      </a:r>
                      <a:endParaRPr sz="1800"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400" dirty="0">
                          <a:effectLst/>
                          <a:latin typeface="Times New Roman" panose="02020603050405020304" pitchFamily="18" charset="0"/>
                          <a:ea typeface="SimSun" panose="02010600030101010101" pitchFamily="2" charset="-122"/>
                          <a:cs typeface="Times New Roman" panose="02020603050405020304" pitchFamily="18" charset="0"/>
                        </a:rPr>
                        <a:t>12327014</a:t>
                      </a:r>
                      <a:endParaRPr lang="en-IN" sz="24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400" dirty="0">
                          <a:effectLst/>
                          <a:latin typeface="Times New Roman" panose="02020603050405020304" pitchFamily="18" charset="0"/>
                          <a:ea typeface="SimSun" panose="02010600030101010101" pitchFamily="2" charset="-122"/>
                          <a:cs typeface="Times New Roman" panose="02020603050405020304" pitchFamily="18" charset="0"/>
                        </a:rPr>
                        <a:t>12217011</a:t>
                      </a:r>
                      <a:endParaRPr lang="en-IN" sz="24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400" dirty="0">
                          <a:effectLst/>
                          <a:latin typeface="Times New Roman" panose="02020603050405020304" pitchFamily="18" charset="0"/>
                          <a:ea typeface="SimSun" panose="02010600030101010101" pitchFamily="2" charset="-122"/>
                          <a:cs typeface="Times New Roman" panose="02020603050405020304" pitchFamily="18" charset="0"/>
                        </a:rPr>
                        <a:t>12217012</a:t>
                      </a:r>
                      <a:endParaRPr lang="en-IN" sz="24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indent="0" algn="ctr">
                        <a:spcBef>
                          <a:spcPts val="0"/>
                        </a:spcBef>
                        <a:spcAft>
                          <a:spcPts val="0"/>
                        </a:spcAft>
                      </a:pPr>
                      <a:r>
                        <a:rPr lang="en-IN" sz="2400" dirty="0">
                          <a:effectLst/>
                          <a:latin typeface="Times New Roman" panose="02020603050405020304" pitchFamily="18" charset="0"/>
                          <a:ea typeface="SimSun" panose="02010600030101010101" pitchFamily="2" charset="-122"/>
                          <a:cs typeface="Times New Roman" panose="02020603050405020304" pitchFamily="18" charset="0"/>
                        </a:rPr>
                        <a:t>12327003</a:t>
                      </a:r>
                      <a:endParaRPr lang="en-IN"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a:tc>
              </a:tr>
              <a:tr h="604520">
                <a:tc>
                  <a:txBody>
                    <a:bodyPr/>
                    <a:lstStyle/>
                    <a:p>
                      <a:pPr marL="0" marR="0" lvl="0" indent="0" algn="l" rtl="0">
                        <a:spcBef>
                          <a:spcPts val="0"/>
                        </a:spcBef>
                        <a:spcAft>
                          <a:spcPts val="0"/>
                        </a:spcAft>
                        <a:buNone/>
                      </a:pPr>
                      <a:endParaRPr sz="18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lang="en-US" sz="1600" u="none" strike="noStrike" cap="none"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endParaRPr lang="en-US" sz="1400" dirty="0">
                        <a:latin typeface="Times New Roman" panose="02020603050405020304" pitchFamily="18" charset="0"/>
                        <a:cs typeface="Times New Roman" panose="02020603050405020304" pitchFamily="18" charset="0"/>
                      </a:endParaRPr>
                    </a:p>
                  </a:txBody>
                  <a:tcPr marL="68575" marR="68575" marT="0" marB="0"/>
                </a:tc>
              </a:tr>
              <a:tr h="356235">
                <a:tc>
                  <a:txBody>
                    <a:bodyPr/>
                    <a:lstStyle/>
                    <a:p>
                      <a:pPr marL="0" marR="0" lvl="0" indent="0" algn="l" rtl="0">
                        <a:spcBef>
                          <a:spcPts val="0"/>
                        </a:spcBef>
                        <a:spcAft>
                          <a:spcPts val="0"/>
                        </a:spcAft>
                        <a:buNone/>
                      </a:pPr>
                      <a:endParaRPr dirty="0"/>
                    </a:p>
                  </a:txBody>
                  <a:tcPr marL="68575" marR="68575" marT="0" marB="0"/>
                </a:tc>
                <a:tc>
                  <a:txBody>
                    <a:bodyPr/>
                    <a:lstStyle/>
                    <a:p>
                      <a:pPr marL="0" marR="0" lvl="0" indent="0" algn="l" rtl="0">
                        <a:spcBef>
                          <a:spcPts val="0"/>
                        </a:spcBef>
                        <a:spcAft>
                          <a:spcPts val="0"/>
                        </a:spcAft>
                        <a:buNone/>
                      </a:pPr>
                      <a:endParaRPr sz="18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lang="en-US" sz="2000" dirty="0"/>
                    </a:p>
                  </a:txBody>
                  <a:tcPr marL="68575" marR="68575" marT="0" marB="0"/>
                </a:tc>
              </a:tr>
              <a:tr h="288290">
                <a:tc>
                  <a:txBody>
                    <a:bodyPr/>
                    <a:lstStyle/>
                    <a:p>
                      <a:pPr marL="0" marR="0" lvl="0" indent="0" algn="l" rtl="0">
                        <a:spcBef>
                          <a:spcPts val="0"/>
                        </a:spcBef>
                        <a:spcAft>
                          <a:spcPts val="0"/>
                        </a:spcAft>
                        <a:buNone/>
                      </a:pPr>
                      <a:endParaRPr dirty="0"/>
                    </a:p>
                  </a:txBody>
                  <a:tcPr marL="68575" marR="68575" marT="0" marB="0"/>
                </a:tc>
                <a:tc>
                  <a:txBody>
                    <a:bodyPr/>
                    <a:lstStyle/>
                    <a:p>
                      <a:pPr marL="0" marR="0" lvl="0" indent="0" algn="l" rtl="0">
                        <a:spcBef>
                          <a:spcPts val="0"/>
                        </a:spcBef>
                        <a:spcAft>
                          <a:spcPts val="0"/>
                        </a:spcAft>
                        <a:buNone/>
                      </a:pPr>
                      <a:endParaRPr sz="18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ctr" rtl="0">
                        <a:spcBef>
                          <a:spcPts val="0"/>
                        </a:spcBef>
                        <a:spcAft>
                          <a:spcPts val="0"/>
                        </a:spcAft>
                        <a:buNone/>
                      </a:pPr>
                      <a:endParaRPr sz="18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r>
            </a:tbl>
          </a:graphicData>
        </a:graphic>
      </p:graphicFrame>
      <p:sp>
        <p:nvSpPr>
          <p:cNvPr id="88" name="Google Shape;88;p13"/>
          <p:cNvSpPr/>
          <p:nvPr/>
        </p:nvSpPr>
        <p:spPr>
          <a:xfrm>
            <a:off x="637850" y="2218272"/>
            <a:ext cx="7606605" cy="444411"/>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US" sz="28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By</a:t>
            </a:r>
            <a:endParaRPr sz="2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p:cNvPicPr>
            <a:picLocks noChangeAspect="1"/>
          </p:cNvPicPr>
          <p:nvPr/>
        </p:nvPicPr>
        <p:blipFill>
          <a:blip r:embed="rId2"/>
          <a:stretch>
            <a:fillRect/>
          </a:stretch>
        </p:blipFill>
        <p:spPr>
          <a:xfrm>
            <a:off x="3429000" y="5631583"/>
            <a:ext cx="2500014" cy="362321"/>
          </a:xfrm>
          <a:prstGeom prst="rect">
            <a:avLst/>
          </a:prstGeom>
        </p:spPr>
      </p:pic>
      <p:sp>
        <p:nvSpPr>
          <p:cNvPr id="5" name="TextBox 4"/>
          <p:cNvSpPr txBox="1"/>
          <p:nvPr/>
        </p:nvSpPr>
        <p:spPr>
          <a:xfrm>
            <a:off x="2252270" y="5631583"/>
            <a:ext cx="4614862"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sz="2400" dirty="0" err="1">
                <a:latin typeface="Times New Roman" panose="02020603050405020304" pitchFamily="18" charset="0"/>
                <a:cs typeface="Times New Roman" panose="02020603050405020304" pitchFamily="18" charset="0"/>
              </a:rPr>
              <a:t>Mrs.Swati</a:t>
            </a:r>
            <a:r>
              <a:rPr lang="en-US" sz="2400" dirty="0">
                <a:latin typeface="Times New Roman" panose="02020603050405020304" pitchFamily="18" charset="0"/>
                <a:cs typeface="Times New Roman" panose="02020603050405020304" pitchFamily="18" charset="0"/>
              </a:rPr>
              <a:t> Patil</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14"/>
          <p:cNvSpPr txBox="1"/>
          <p:nvPr/>
        </p:nvSpPr>
        <p:spPr>
          <a:xfrm>
            <a:off x="914400" y="213020"/>
            <a:ext cx="7151927" cy="766695"/>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None/>
            </a:pPr>
            <a:r>
              <a:rPr lang="en-US" sz="3600" b="1" i="1" u="none" strike="noStrike" cap="none"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Outline</a:t>
            </a:r>
            <a:endParaRPr sz="3600" b="1" i="1" u="none" strike="noStrike" cap="none"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97" name="Google Shape;97;p14"/>
          <p:cNvSpPr txBox="1">
            <a:spLocks noGrp="1"/>
          </p:cNvSpPr>
          <p:nvPr>
            <p:ph type="ftr" idx="11"/>
          </p:nvPr>
        </p:nvSpPr>
        <p:spPr>
          <a:xfrm>
            <a:off x="1676691" y="6397419"/>
            <a:ext cx="5135216" cy="42213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pPr algn="ctr"/>
            <a:endParaRPr i="0" dirty="0"/>
          </a:p>
        </p:txBody>
      </p:sp>
      <p:sp>
        <p:nvSpPr>
          <p:cNvPr id="98" name="Google Shape;98;p14"/>
          <p:cNvSpPr txBox="1"/>
          <p:nvPr/>
        </p:nvSpPr>
        <p:spPr>
          <a:xfrm>
            <a:off x="533400" y="1600200"/>
            <a:ext cx="7893000" cy="4524275"/>
          </a:xfrm>
          <a:prstGeom prst="rect">
            <a:avLst/>
          </a:prstGeom>
          <a:noFill/>
          <a:ln>
            <a:noFill/>
          </a:ln>
        </p:spPr>
        <p:txBody>
          <a:bodyPr spcFirstLastPara="1" wrap="square" lIns="91425" tIns="45700" rIns="91425" bIns="45700" anchor="t" anchorCtr="0">
            <a:spAutoFit/>
          </a:bodyPr>
          <a:lstStyle/>
          <a:p>
            <a:pPr algn="l">
              <a:lnSpc>
                <a:spcPts val="2560"/>
              </a:lnSpc>
            </a:pPr>
            <a:r>
              <a:rPr lang="en-US" sz="2200" dirty="0">
                <a:solidFill>
                  <a:srgbClr val="000000"/>
                </a:solidFill>
                <a:latin typeface="Times New Roman" panose="02020603050405020304"/>
              </a:rPr>
              <a:t>1. Introduction</a:t>
            </a:r>
            <a:endParaRPr lang="en-US" sz="2200" dirty="0">
              <a:solidFill>
                <a:srgbClr val="000000"/>
              </a:solidFill>
              <a:latin typeface="Times New Roman" panose="02020603050405020304"/>
            </a:endParaRPr>
          </a:p>
          <a:p>
            <a:pPr algn="l">
              <a:lnSpc>
                <a:spcPts val="2560"/>
              </a:lnSpc>
            </a:pPr>
            <a:r>
              <a:rPr lang="en-US" sz="2200" dirty="0">
                <a:solidFill>
                  <a:srgbClr val="000000"/>
                </a:solidFill>
                <a:latin typeface="Times New Roman" panose="02020603050405020304"/>
              </a:rPr>
              <a:t>2. Problem Statement and Objectives</a:t>
            </a:r>
            <a:endParaRPr lang="en-US" sz="2200" dirty="0">
              <a:solidFill>
                <a:srgbClr val="000000"/>
              </a:solidFill>
              <a:latin typeface="Times New Roman" panose="02020603050405020304"/>
            </a:endParaRPr>
          </a:p>
          <a:p>
            <a:pPr algn="l">
              <a:lnSpc>
                <a:spcPts val="2560"/>
              </a:lnSpc>
            </a:pPr>
            <a:r>
              <a:rPr lang="en-US" sz="2200" dirty="0">
                <a:latin typeface="Times New Roman" panose="02020603050405020304"/>
              </a:rPr>
              <a:t>     </a:t>
            </a:r>
            <a:r>
              <a:rPr lang="en-US" sz="2200" dirty="0">
                <a:latin typeface="Times New Roman" panose="02020603050405020304" pitchFamily="18" charset="0"/>
                <a:cs typeface="Times New Roman" panose="02020603050405020304" pitchFamily="18" charset="0"/>
              </a:rPr>
              <a:t>2.1 </a:t>
            </a:r>
            <a:r>
              <a:rPr lang="en-US" sz="2200"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rPr>
              <a:t>Problem Definition </a:t>
            </a:r>
            <a:endParaRPr lang="en-US" sz="2200"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endParaRPr>
          </a:p>
          <a:p>
            <a:pPr>
              <a:lnSpc>
                <a:spcPts val="2560"/>
              </a:lnSpc>
            </a:pPr>
            <a:r>
              <a:rPr lang="en-US" sz="2200" dirty="0">
                <a:solidFill>
                  <a:schemeClr val="dk1"/>
                </a:solidFill>
                <a:latin typeface="Times New Roman" panose="02020603050405020304" pitchFamily="18" charset="0"/>
                <a:cs typeface="Times New Roman" panose="02020603050405020304" pitchFamily="18" charset="0"/>
                <a:sym typeface="Bookman Old Style" panose="02050604050505020204"/>
              </a:rPr>
              <a:t>      2.2 </a:t>
            </a:r>
            <a:r>
              <a:rPr lang="en-US" sz="2200"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rPr>
              <a:t>Objectives:</a:t>
            </a:r>
            <a:endParaRPr lang="en-US" sz="2200"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endParaRPr>
          </a:p>
          <a:p>
            <a:pPr>
              <a:lnSpc>
                <a:spcPts val="2560"/>
              </a:lnSpc>
            </a:pPr>
            <a:r>
              <a:rPr lang="en-US" sz="2200" dirty="0">
                <a:solidFill>
                  <a:schemeClr val="dk1"/>
                </a:solidFill>
                <a:latin typeface="Times New Roman" panose="02020603050405020304" pitchFamily="18" charset="0"/>
                <a:cs typeface="Times New Roman" panose="02020603050405020304" pitchFamily="18" charset="0"/>
                <a:sym typeface="Bookman Old Style" panose="02050604050505020204"/>
              </a:rPr>
              <a:t>      2.3 </a:t>
            </a:r>
            <a:r>
              <a:rPr lang="en-US" sz="2200" i="1"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rPr>
              <a:t>Problem Identification </a:t>
            </a:r>
            <a:endParaRPr lang="en-US" sz="2200" i="1"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endParaRPr>
          </a:p>
          <a:p>
            <a:pPr>
              <a:lnSpc>
                <a:spcPts val="2560"/>
              </a:lnSpc>
            </a:pPr>
            <a:r>
              <a:rPr lang="en-US" sz="2200" i="1" dirty="0">
                <a:solidFill>
                  <a:schemeClr val="dk1"/>
                </a:solidFill>
                <a:latin typeface="Times New Roman" panose="02020603050405020304" pitchFamily="18" charset="0"/>
                <a:cs typeface="Times New Roman" panose="02020603050405020304" pitchFamily="18" charset="0"/>
                <a:sym typeface="Bookman Old Style" panose="02050604050505020204"/>
              </a:rPr>
              <a:t>      2.4 </a:t>
            </a:r>
            <a:r>
              <a:rPr lang="en-US" sz="2200"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rPr>
              <a:t>Problem Solution</a:t>
            </a:r>
            <a:endParaRPr lang="en-US" sz="2200" dirty="0">
              <a:solidFill>
                <a:srgbClr val="000000"/>
              </a:solidFill>
              <a:latin typeface="Times New Roman" panose="02020603050405020304" pitchFamily="18" charset="0"/>
              <a:cs typeface="Times New Roman" panose="02020603050405020304" pitchFamily="18" charset="0"/>
            </a:endParaRPr>
          </a:p>
          <a:p>
            <a:pPr algn="l">
              <a:lnSpc>
                <a:spcPts val="2560"/>
              </a:lnSpc>
            </a:pPr>
            <a:r>
              <a:rPr lang="en-US" sz="2200" dirty="0">
                <a:solidFill>
                  <a:srgbClr val="000000"/>
                </a:solidFill>
                <a:latin typeface="Times New Roman" panose="02020603050405020304"/>
              </a:rPr>
              <a:t>3. Workflow</a:t>
            </a:r>
            <a:endParaRPr lang="en-US" sz="2200" dirty="0">
              <a:solidFill>
                <a:srgbClr val="000000"/>
              </a:solidFill>
              <a:latin typeface="Times New Roman" panose="02020603050405020304"/>
            </a:endParaRPr>
          </a:p>
          <a:p>
            <a:pPr algn="l">
              <a:lnSpc>
                <a:spcPts val="2560"/>
              </a:lnSpc>
            </a:pPr>
            <a:r>
              <a:rPr lang="en-US" sz="2200" dirty="0">
                <a:solidFill>
                  <a:srgbClr val="000000"/>
                </a:solidFill>
                <a:latin typeface="Times New Roman" panose="02020603050405020304"/>
              </a:rPr>
              <a:t>4. Hardware &amp; Software Requirements</a:t>
            </a:r>
            <a:endParaRPr lang="en-US" sz="2200" dirty="0">
              <a:solidFill>
                <a:srgbClr val="000000"/>
              </a:solidFill>
              <a:latin typeface="Times New Roman" panose="02020603050405020304"/>
            </a:endParaRPr>
          </a:p>
          <a:p>
            <a:pPr algn="l">
              <a:lnSpc>
                <a:spcPts val="2560"/>
              </a:lnSpc>
            </a:pPr>
            <a:r>
              <a:rPr lang="en-US" sz="2200" dirty="0">
                <a:solidFill>
                  <a:srgbClr val="000000"/>
                </a:solidFill>
                <a:latin typeface="Times New Roman" panose="02020603050405020304"/>
              </a:rPr>
              <a:t>6. Results</a:t>
            </a:r>
            <a:endParaRPr lang="en-US" sz="2200" dirty="0">
              <a:solidFill>
                <a:srgbClr val="000000"/>
              </a:solidFill>
              <a:latin typeface="Times New Roman" panose="02020603050405020304"/>
            </a:endParaRPr>
          </a:p>
          <a:p>
            <a:pPr algn="l">
              <a:lnSpc>
                <a:spcPts val="2560"/>
              </a:lnSpc>
            </a:pPr>
            <a:r>
              <a:rPr lang="en-US" sz="2200" dirty="0">
                <a:solidFill>
                  <a:srgbClr val="000000"/>
                </a:solidFill>
                <a:latin typeface="Times New Roman" panose="02020603050405020304"/>
              </a:rPr>
              <a:t>7. Conclusion</a:t>
            </a:r>
            <a:endParaRPr lang="en-US" sz="2200" dirty="0">
              <a:solidFill>
                <a:srgbClr val="000000"/>
              </a:solidFill>
              <a:latin typeface="Times New Roman" panose="02020603050405020304"/>
            </a:endParaRPr>
          </a:p>
          <a:p>
            <a:pPr algn="l">
              <a:lnSpc>
                <a:spcPts val="2560"/>
              </a:lnSpc>
            </a:pPr>
            <a:r>
              <a:rPr lang="en-US" sz="2200" dirty="0">
                <a:solidFill>
                  <a:srgbClr val="000000"/>
                </a:solidFill>
                <a:latin typeface="Times New Roman" panose="02020603050405020304"/>
              </a:rPr>
              <a:t>8. Future Scope</a:t>
            </a:r>
            <a:endParaRPr lang="en-US" sz="2200" dirty="0">
              <a:solidFill>
                <a:srgbClr val="000000"/>
              </a:solidFill>
              <a:latin typeface="Times New Roman" panose="02020603050405020304"/>
            </a:endParaRPr>
          </a:p>
          <a:p>
            <a:pPr algn="l">
              <a:lnSpc>
                <a:spcPts val="2560"/>
              </a:lnSpc>
            </a:pPr>
            <a:r>
              <a:rPr lang="en-US" sz="2200" dirty="0">
                <a:solidFill>
                  <a:srgbClr val="000000"/>
                </a:solidFill>
                <a:latin typeface="Times New Roman" panose="02020603050405020304"/>
              </a:rPr>
              <a:t>9. References</a:t>
            </a:r>
            <a:endParaRPr lang="en-US" sz="2200" dirty="0">
              <a:solidFill>
                <a:srgbClr val="000000"/>
              </a:solidFill>
              <a:latin typeface="Times New Roman" panose="02020603050405020304"/>
            </a:endParaRPr>
          </a:p>
          <a:p>
            <a:pPr marR="0" lvl="0" algn="l" rtl="0">
              <a:spcBef>
                <a:spcPts val="0"/>
              </a:spcBef>
              <a:spcAft>
                <a:spcPts val="0"/>
              </a:spcAft>
              <a:buClr>
                <a:schemeClr val="dk1"/>
              </a:buClr>
              <a:buSzPts val="4400"/>
            </a:pPr>
            <a:endParaRPr lang="en-US" sz="2200" dirty="0">
              <a:solidFill>
                <a:schemeClr val="tx1">
                  <a:lumMod val="95000"/>
                  <a:lumOff val="5000"/>
                </a:schemeClr>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14"/>
          <p:cNvSpPr txBox="1"/>
          <p:nvPr/>
        </p:nvSpPr>
        <p:spPr>
          <a:xfrm>
            <a:off x="990769" y="213020"/>
            <a:ext cx="7151927" cy="766695"/>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1. Introduction</a:t>
            </a:r>
            <a:endParaRPr sz="3600" b="1" i="1" u="none" strike="noStrike" cap="none"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3" name="Subtitle 2"/>
          <p:cNvSpPr>
            <a:spLocks noGrp="1"/>
          </p:cNvSpPr>
          <p:nvPr>
            <p:ph type="subTitle" idx="1"/>
          </p:nvPr>
        </p:nvSpPr>
        <p:spPr>
          <a:xfrm>
            <a:off x="76201" y="1828800"/>
            <a:ext cx="8686800" cy="4114800"/>
          </a:xfrm>
        </p:spPr>
        <p:txBody>
          <a:bodyPr>
            <a:noAutofit/>
          </a:bodyPr>
          <a:lstStyle/>
          <a:p>
            <a:pPr algn="just"/>
            <a:r>
              <a:rPr lang="en-US" sz="2000" dirty="0">
                <a:solidFill>
                  <a:schemeClr val="tx1"/>
                </a:solidFill>
                <a:latin typeface="Times New Roman" panose="02020603050405020304" pitchFamily="18" charset="0"/>
                <a:cs typeface="Times New Roman" panose="02020603050405020304" pitchFamily="18" charset="0"/>
              </a:rPr>
              <a:t>      The News Aggregator System is a web-based application that collects and displays the latest news from various sources using the </a:t>
            </a:r>
            <a:r>
              <a:rPr lang="en-US" sz="2000" b="1" dirty="0" err="1">
                <a:solidFill>
                  <a:schemeClr val="tx1"/>
                </a:solidFill>
                <a:latin typeface="Times New Roman" panose="02020603050405020304" pitchFamily="18" charset="0"/>
                <a:cs typeface="Times New Roman" panose="02020603050405020304" pitchFamily="18" charset="0"/>
              </a:rPr>
              <a:t>GNews</a:t>
            </a:r>
            <a:r>
              <a:rPr lang="en-US" sz="2000" b="1" dirty="0">
                <a:solidFill>
                  <a:schemeClr val="tx1"/>
                </a:solidFill>
                <a:latin typeface="Times New Roman" panose="02020603050405020304" pitchFamily="18" charset="0"/>
                <a:cs typeface="Times New Roman" panose="02020603050405020304" pitchFamily="18" charset="0"/>
              </a:rPr>
              <a:t> API</a:t>
            </a:r>
            <a:r>
              <a:rPr lang="en-US" sz="2000" dirty="0">
                <a:solidFill>
                  <a:schemeClr val="tx1"/>
                </a:solidFill>
                <a:latin typeface="Times New Roman" panose="02020603050405020304" pitchFamily="18" charset="0"/>
                <a:cs typeface="Times New Roman" panose="02020603050405020304" pitchFamily="18" charset="0"/>
              </a:rPr>
              <a:t>. Built with </a:t>
            </a:r>
            <a:r>
              <a:rPr lang="en-US" sz="2000" b="1" dirty="0">
                <a:solidFill>
                  <a:schemeClr val="tx1"/>
                </a:solidFill>
                <a:latin typeface="Times New Roman" panose="02020603050405020304" pitchFamily="18" charset="0"/>
                <a:cs typeface="Times New Roman" panose="02020603050405020304" pitchFamily="18" charset="0"/>
              </a:rPr>
              <a:t>Django (Python)</a:t>
            </a:r>
            <a:r>
              <a:rPr lang="en-US" sz="2000" dirty="0">
                <a:solidFill>
                  <a:schemeClr val="tx1"/>
                </a:solidFill>
                <a:latin typeface="Times New Roman" panose="02020603050405020304" pitchFamily="18" charset="0"/>
                <a:cs typeface="Times New Roman" panose="02020603050405020304" pitchFamily="18" charset="0"/>
              </a:rPr>
              <a:t> for the backend and </a:t>
            </a:r>
            <a:r>
              <a:rPr lang="en-US" sz="2000" b="1" dirty="0">
                <a:solidFill>
                  <a:schemeClr val="tx1"/>
                </a:solidFill>
                <a:latin typeface="Times New Roman" panose="02020603050405020304" pitchFamily="18" charset="0"/>
                <a:cs typeface="Times New Roman" panose="02020603050405020304" pitchFamily="18" charset="0"/>
              </a:rPr>
              <a:t>HTML, CSS, and JavaScript</a:t>
            </a:r>
            <a:r>
              <a:rPr lang="en-US" sz="2000" dirty="0">
                <a:solidFill>
                  <a:schemeClr val="tx1"/>
                </a:solidFill>
                <a:latin typeface="Times New Roman" panose="02020603050405020304" pitchFamily="18" charset="0"/>
                <a:cs typeface="Times New Roman" panose="02020603050405020304" pitchFamily="18" charset="0"/>
              </a:rPr>
              <a:t> for the frontend, it allows users to view, filter, and search for news articles across multiple categories. </a:t>
            </a:r>
            <a:endParaRPr lang="en-US" sz="2000" dirty="0">
              <a:solidFill>
                <a:schemeClr val="tx1"/>
              </a:solidFill>
              <a:latin typeface="Times New Roman" panose="02020603050405020304" pitchFamily="18" charset="0"/>
              <a:cs typeface="Times New Roman" panose="02020603050405020304" pitchFamily="18" charset="0"/>
            </a:endParaRPr>
          </a:p>
          <a:p>
            <a:pPr algn="just"/>
            <a:r>
              <a:rPr lang="en-US" sz="2000" dirty="0">
                <a:solidFill>
                  <a:schemeClr val="tx1"/>
                </a:solidFill>
                <a:latin typeface="Times New Roman" panose="02020603050405020304" pitchFamily="18" charset="0"/>
                <a:cs typeface="Times New Roman" panose="02020603050405020304" pitchFamily="18" charset="0"/>
              </a:rPr>
              <a:t>      A </a:t>
            </a:r>
            <a:r>
              <a:rPr lang="en-US" sz="2000" u="sng" dirty="0">
                <a:solidFill>
                  <a:schemeClr val="tx1"/>
                </a:solidFill>
                <a:latin typeface="Times New Roman" panose="02020603050405020304" pitchFamily="18" charset="0"/>
                <a:cs typeface="Times New Roman" panose="02020603050405020304" pitchFamily="18" charset="0"/>
              </a:rPr>
              <a:t>News Aggregator System</a:t>
            </a:r>
            <a:r>
              <a:rPr lang="en-US" sz="2000" dirty="0">
                <a:solidFill>
                  <a:schemeClr val="tx1"/>
                </a:solidFill>
                <a:latin typeface="Times New Roman" panose="02020603050405020304" pitchFamily="18" charset="0"/>
                <a:cs typeface="Times New Roman" panose="02020603050405020304" pitchFamily="18" charset="0"/>
              </a:rPr>
              <a:t> is a digital platform that collects, organizes, and presents news from multiple sources in one place. It provides users with real-time updates, categorized news, and personalized content based on their preferences. By leveraging automation and AI-driven recommendations, the system enhances the news consumption experience by delivering relevant, credible, and diverse perspectives.</a:t>
            </a:r>
            <a:endParaRPr lang="en-US" sz="2000" dirty="0">
              <a:solidFill>
                <a:schemeClr val="tx1"/>
              </a:solidFill>
              <a:latin typeface="Times New Roman" panose="02020603050405020304" pitchFamily="18" charset="0"/>
              <a:cs typeface="Times New Roman" panose="02020603050405020304" pitchFamily="18" charset="0"/>
            </a:endParaRPr>
          </a:p>
          <a:p>
            <a:pPr algn="just"/>
            <a:r>
              <a:rPr lang="en-US" sz="2000" dirty="0">
                <a:solidFill>
                  <a:schemeClr val="tx1"/>
                </a:solidFill>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97" name="Google Shape;97;p14"/>
          <p:cNvSpPr txBox="1">
            <a:spLocks noGrp="1"/>
          </p:cNvSpPr>
          <p:nvPr>
            <p:ph type="ftr" idx="11"/>
          </p:nvPr>
        </p:nvSpPr>
        <p:spPr>
          <a:xfrm>
            <a:off x="2057458" y="6400967"/>
            <a:ext cx="5135216" cy="42213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endParaRPr i="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p:nvPr/>
        </p:nvSpPr>
        <p:spPr>
          <a:xfrm>
            <a:off x="1273629" y="331998"/>
            <a:ext cx="7870500" cy="800100"/>
          </a:xfrm>
          <a:prstGeom prst="rect">
            <a:avLst/>
          </a:prstGeom>
          <a:noFill/>
          <a:ln>
            <a:noFill/>
          </a:ln>
        </p:spPr>
        <p:txBody>
          <a:bodyPr spcFirstLastPara="1" wrap="square" lIns="68550" tIns="34275" rIns="68550" bIns="34275" anchor="ctr" anchorCtr="0">
            <a:noAutofit/>
          </a:bodyPr>
          <a:lstStyle/>
          <a:p>
            <a:pPr marL="0" marR="0" lvl="0" indent="0" algn="l" rtl="0">
              <a:lnSpc>
                <a:spcPct val="90000"/>
              </a:lnSpc>
              <a:spcBef>
                <a:spcPts val="0"/>
              </a:spcBef>
              <a:spcAft>
                <a:spcPts val="0"/>
              </a:spcAft>
              <a:buNone/>
            </a:pPr>
            <a:r>
              <a:rPr lang="en-US" sz="28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2. Problem Statement and Objectives</a:t>
            </a:r>
            <a:endParaRPr sz="28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16" name="Google Shape;116;p16"/>
          <p:cNvSpPr/>
          <p:nvPr/>
        </p:nvSpPr>
        <p:spPr>
          <a:xfrm>
            <a:off x="76200" y="2057400"/>
            <a:ext cx="8884200" cy="1548900"/>
          </a:xfrm>
          <a:prstGeom prst="rect">
            <a:avLst/>
          </a:prstGeom>
          <a:noFill/>
          <a:ln>
            <a:noFill/>
          </a:ln>
        </p:spPr>
        <p:txBody>
          <a:bodyPr spcFirstLastPara="1" wrap="square" lIns="68550" tIns="34275" rIns="68550" bIns="34275" anchor="b" anchorCtr="0">
            <a:noAutofit/>
          </a:bodyPr>
          <a:lstStyle/>
          <a:p>
            <a:pPr marL="0" marR="0" lvl="0" indent="0" algn="l" rtl="0">
              <a:lnSpc>
                <a:spcPct val="90000"/>
              </a:lnSpc>
              <a:spcBef>
                <a:spcPts val="0"/>
              </a:spcBef>
              <a:spcAft>
                <a:spcPts val="0"/>
              </a:spcAft>
              <a:buNone/>
            </a:pPr>
            <a:r>
              <a:rPr lang="en-US"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2.1 Problem Definition :</a:t>
            </a:r>
            <a:r>
              <a:rPr lang="en-US" sz="17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 </a:t>
            </a:r>
            <a:endParaRPr lang="en-US" sz="17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endParaRPr>
          </a:p>
          <a:p>
            <a:pPr marL="0" marR="0" lvl="0" indent="0" algn="l" rtl="0">
              <a:lnSpc>
                <a:spcPct val="90000"/>
              </a:lnSpc>
              <a:spcBef>
                <a:spcPts val="0"/>
              </a:spcBef>
              <a:spcAft>
                <a:spcPts val="0"/>
              </a:spcAft>
              <a:buNone/>
            </a:pPr>
            <a:r>
              <a:rPr lang="en-US" sz="2200" dirty="0">
                <a:latin typeface="Times New Roman" panose="02020603050405020304" pitchFamily="18" charset="0"/>
                <a:cs typeface="Times New Roman" panose="02020603050405020304" pitchFamily="18" charset="0"/>
              </a:rPr>
              <a:t>In today’s fast-paced world, users struggle to stay updated with the latest news from various sources. Visiting multiple news websites can be time-consuming and inefficient. There is a need for a centralized platform that aggregates news from diverse categories and delivers it in real-time.</a:t>
            </a:r>
            <a:endParaRPr lang="en-US" sz="2200" b="1" i="1"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endParaRPr>
          </a:p>
        </p:txBody>
      </p:sp>
      <p:sp>
        <p:nvSpPr>
          <p:cNvPr id="117" name="Google Shape;117;p16"/>
          <p:cNvSpPr/>
          <p:nvPr/>
        </p:nvSpPr>
        <p:spPr>
          <a:xfrm>
            <a:off x="76200" y="3800973"/>
            <a:ext cx="2857500" cy="524700"/>
          </a:xfrm>
          <a:prstGeom prst="rect">
            <a:avLst/>
          </a:prstGeom>
          <a:noFill/>
          <a:ln>
            <a:noFill/>
          </a:ln>
        </p:spPr>
        <p:txBody>
          <a:bodyPr spcFirstLastPara="1" wrap="square" lIns="68550" tIns="34275" rIns="68550" bIns="34275" anchor="b" anchorCtr="0">
            <a:noAutofit/>
          </a:bodyPr>
          <a:lstStyle/>
          <a:p>
            <a:pPr marL="0" marR="0" lvl="0" indent="0" algn="l" rtl="0">
              <a:lnSpc>
                <a:spcPct val="90000"/>
              </a:lnSpc>
              <a:spcBef>
                <a:spcPts val="0"/>
              </a:spcBef>
              <a:spcAft>
                <a:spcPts val="0"/>
              </a:spcAft>
              <a:buFont typeface="Arial" panose="020B0604020202020204" pitchFamily="34" charset="0"/>
              <a:buNone/>
            </a:pPr>
            <a:r>
              <a:rPr lang="en-US"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2.2 Objectives:</a:t>
            </a:r>
            <a:endParaRPr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19" name="Google Shape;119;p16"/>
          <p:cNvSpPr txBox="1">
            <a:spLocks noGrp="1"/>
          </p:cNvSpPr>
          <p:nvPr>
            <p:ph type="ftr" idx="11"/>
          </p:nvPr>
        </p:nvSpPr>
        <p:spPr>
          <a:xfrm>
            <a:off x="1752297" y="6400594"/>
            <a:ext cx="5135216" cy="42213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endParaRPr lang="en-IN" i="0" dirty="0"/>
          </a:p>
        </p:txBody>
      </p:sp>
      <p:sp>
        <p:nvSpPr>
          <p:cNvPr id="120" name="Google Shape;120;p16"/>
          <p:cNvSpPr txBox="1"/>
          <p:nvPr/>
        </p:nvSpPr>
        <p:spPr>
          <a:xfrm>
            <a:off x="0" y="4325673"/>
            <a:ext cx="9144000" cy="1873885"/>
          </a:xfrm>
          <a:prstGeom prst="rect">
            <a:avLst/>
          </a:prstGeom>
          <a:noFill/>
          <a:ln>
            <a:noFill/>
          </a:ln>
        </p:spPr>
        <p:txBody>
          <a:bodyPr spcFirstLastPara="1" wrap="square" lIns="91425" tIns="91425" rIns="91425" bIns="91425" anchor="t" anchorCtr="0">
            <a:spAutoFit/>
          </a:bodyPr>
          <a:lstStyle/>
          <a:p>
            <a:pPr marL="457200" lvl="0" indent="-400050" algn="l" rtl="0">
              <a:spcBef>
                <a:spcPts val="0"/>
              </a:spcBef>
              <a:spcAft>
                <a:spcPts val="0"/>
              </a:spcAft>
              <a:buSzPts val="2700"/>
              <a:buFont typeface="Times New Roman" panose="02020603050405020304"/>
              <a:buAutoNum type="arabicPeriod"/>
            </a:pPr>
            <a:r>
              <a:rPr lang="en-US" sz="2200" b="1" dirty="0">
                <a:latin typeface="Times New Roman" panose="02020603050405020304" pitchFamily="18" charset="0"/>
                <a:cs typeface="Times New Roman" panose="02020603050405020304" pitchFamily="18" charset="0"/>
              </a:rPr>
              <a:t>Centralized News Access:</a:t>
            </a:r>
            <a:r>
              <a:rPr lang="en-US" sz="2200" dirty="0">
                <a:latin typeface="Times New Roman" panose="02020603050405020304" pitchFamily="18" charset="0"/>
                <a:cs typeface="Times New Roman" panose="02020603050405020304" pitchFamily="18" charset="0"/>
              </a:rPr>
              <a:t> Aggregate news from multiple sources using the </a:t>
            </a:r>
            <a:r>
              <a:rPr lang="en-US" sz="2200" b="1" dirty="0" err="1">
                <a:latin typeface="Times New Roman" panose="02020603050405020304" pitchFamily="18" charset="0"/>
                <a:cs typeface="Times New Roman" panose="02020603050405020304" pitchFamily="18" charset="0"/>
              </a:rPr>
              <a:t>GNews</a:t>
            </a:r>
            <a:r>
              <a:rPr lang="en-US" sz="2200" b="1" dirty="0">
                <a:latin typeface="Times New Roman" panose="02020603050405020304" pitchFamily="18" charset="0"/>
                <a:cs typeface="Times New Roman" panose="02020603050405020304" pitchFamily="18" charset="0"/>
              </a:rPr>
              <a:t> API</a:t>
            </a:r>
            <a:r>
              <a:rPr lang="en-US" sz="2200"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endParaRPr lang="en-US" sz="22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57200" lvl="0" indent="-400050" algn="l" rtl="0">
              <a:spcBef>
                <a:spcPts val="0"/>
              </a:spcBef>
              <a:spcAft>
                <a:spcPts val="0"/>
              </a:spcAft>
              <a:buSzPts val="2700"/>
              <a:buFont typeface="Times New Roman" panose="02020603050405020304"/>
              <a:buAutoNum type="arabicPeriod"/>
            </a:pPr>
            <a:r>
              <a:rPr lang="en-US" sz="2200" b="1" dirty="0">
                <a:latin typeface="Times New Roman" panose="02020603050405020304" pitchFamily="18" charset="0"/>
                <a:cs typeface="Times New Roman" panose="02020603050405020304" pitchFamily="18" charset="0"/>
              </a:rPr>
              <a:t>Real-Time Updates:</a:t>
            </a:r>
            <a:r>
              <a:rPr lang="en-US" sz="2200" dirty="0">
                <a:latin typeface="Times New Roman" panose="02020603050405020304" pitchFamily="18" charset="0"/>
                <a:cs typeface="Times New Roman" panose="02020603050405020304" pitchFamily="18" charset="0"/>
              </a:rPr>
              <a:t> Provide the latest news dynamically</a:t>
            </a:r>
            <a:endParaRPr lang="en-US" sz="2200" dirty="0">
              <a:latin typeface="Times New Roman" panose="02020603050405020304" pitchFamily="18" charset="0"/>
              <a:cs typeface="Times New Roman" panose="02020603050405020304" pitchFamily="18" charset="0"/>
            </a:endParaRPr>
          </a:p>
          <a:p>
            <a:pPr marL="457200" lvl="0" indent="-400050" algn="l" rtl="0">
              <a:spcBef>
                <a:spcPts val="0"/>
              </a:spcBef>
              <a:spcAft>
                <a:spcPts val="0"/>
              </a:spcAft>
              <a:buSzPts val="2700"/>
              <a:buFont typeface="Times New Roman" panose="02020603050405020304"/>
              <a:buAutoNum type="arabicPeriod"/>
            </a:pPr>
            <a:r>
              <a:rPr lang="en-US" sz="2200" b="1" dirty="0">
                <a:latin typeface="Times New Roman" panose="02020603050405020304" pitchFamily="18" charset="0"/>
                <a:cs typeface="Times New Roman" panose="02020603050405020304" pitchFamily="18" charset="0"/>
              </a:rPr>
              <a:t>User-Friendly Interface:</a:t>
            </a:r>
            <a:r>
              <a:rPr lang="en-US" sz="2200" dirty="0">
                <a:latin typeface="Times New Roman" panose="02020603050405020304" pitchFamily="18" charset="0"/>
                <a:cs typeface="Times New Roman" panose="02020603050405020304" pitchFamily="18" charset="0"/>
              </a:rPr>
              <a:t> Ensure easy navigation with </a:t>
            </a:r>
            <a:r>
              <a:rPr lang="en-US" sz="2200" b="1" dirty="0">
                <a:latin typeface="Times New Roman" panose="02020603050405020304" pitchFamily="18" charset="0"/>
                <a:cs typeface="Times New Roman" panose="02020603050405020304" pitchFamily="18" charset="0"/>
              </a:rPr>
              <a:t>HTML, CSS, and JavaScript</a:t>
            </a:r>
            <a:r>
              <a:rPr lang="en-US" sz="2200" dirty="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121" name="Google Shape;121;p16"/>
          <p:cNvSpPr txBox="1"/>
          <p:nvPr/>
        </p:nvSpPr>
        <p:spPr>
          <a:xfrm>
            <a:off x="2143800" y="4494871"/>
            <a:ext cx="700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p:nvPr/>
        </p:nvSpPr>
        <p:spPr>
          <a:xfrm>
            <a:off x="1273629" y="331998"/>
            <a:ext cx="7870371" cy="800116"/>
          </a:xfrm>
          <a:prstGeom prst="rect">
            <a:avLst/>
          </a:prstGeom>
          <a:noFill/>
          <a:ln>
            <a:noFill/>
          </a:ln>
        </p:spPr>
        <p:txBody>
          <a:bodyPr spcFirstLastPara="1" wrap="square" lIns="68550" tIns="34275" rIns="68550" bIns="34275" anchor="ctr" anchorCtr="0">
            <a:noAutofit/>
          </a:bodyPr>
          <a:lstStyle/>
          <a:p>
            <a:pPr marL="0" marR="0" lvl="0" indent="0" algn="l" rtl="0">
              <a:lnSpc>
                <a:spcPct val="90000"/>
              </a:lnSpc>
              <a:spcBef>
                <a:spcPts val="0"/>
              </a:spcBef>
              <a:spcAft>
                <a:spcPts val="0"/>
              </a:spcAft>
              <a:buNone/>
            </a:pPr>
            <a:r>
              <a:rPr lang="en-US" sz="32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Problem Identificaion and Solution</a:t>
            </a:r>
            <a:endParaRPr sz="32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04" name="Google Shape;104;p15"/>
          <p:cNvSpPr/>
          <p:nvPr/>
        </p:nvSpPr>
        <p:spPr>
          <a:xfrm>
            <a:off x="97976" y="1488625"/>
            <a:ext cx="5073900" cy="416400"/>
          </a:xfrm>
          <a:prstGeom prst="rect">
            <a:avLst/>
          </a:prstGeom>
          <a:noFill/>
          <a:ln>
            <a:noFill/>
          </a:ln>
        </p:spPr>
        <p:txBody>
          <a:bodyPr spcFirstLastPara="1" wrap="square" lIns="68550" tIns="34275" rIns="68550" bIns="34275" anchor="b" anchorCtr="0">
            <a:noAutofit/>
          </a:bodyPr>
          <a:lstStyle/>
          <a:p>
            <a:pPr marL="0" marR="0" lvl="0" indent="0" algn="l" rtl="0">
              <a:lnSpc>
                <a:spcPct val="90000"/>
              </a:lnSpc>
              <a:spcBef>
                <a:spcPts val="0"/>
              </a:spcBef>
              <a:spcAft>
                <a:spcPts val="0"/>
              </a:spcAft>
              <a:buNone/>
            </a:pPr>
            <a:r>
              <a:rPr lang="en-US"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2.3 Problem Identification :      </a:t>
            </a:r>
            <a:endParaRPr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05" name="Google Shape;105;p15"/>
          <p:cNvSpPr/>
          <p:nvPr/>
        </p:nvSpPr>
        <p:spPr>
          <a:xfrm>
            <a:off x="0" y="3597380"/>
            <a:ext cx="3886200" cy="422645"/>
          </a:xfrm>
          <a:prstGeom prst="rect">
            <a:avLst/>
          </a:prstGeom>
          <a:noFill/>
          <a:ln>
            <a:noFill/>
          </a:ln>
        </p:spPr>
        <p:txBody>
          <a:bodyPr spcFirstLastPara="1" wrap="square" lIns="68550" tIns="34275" rIns="68550" bIns="34275" anchor="b" anchorCtr="0">
            <a:noAutofit/>
          </a:bodyPr>
          <a:lstStyle/>
          <a:p>
            <a:pPr marL="0" marR="0" lvl="0" indent="0" algn="l" rtl="0">
              <a:lnSpc>
                <a:spcPct val="90000"/>
              </a:lnSpc>
              <a:spcBef>
                <a:spcPts val="0"/>
              </a:spcBef>
              <a:spcAft>
                <a:spcPts val="0"/>
              </a:spcAft>
              <a:buFont typeface="Arial" panose="020B0604020202020204" pitchFamily="34" charset="0"/>
              <a:buNone/>
            </a:pPr>
            <a:r>
              <a:rPr lang="en-US"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2.4 Problem Solution:</a:t>
            </a:r>
            <a:endParaRPr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07" name="Google Shape;107;p15"/>
          <p:cNvSpPr txBox="1">
            <a:spLocks noGrp="1"/>
          </p:cNvSpPr>
          <p:nvPr>
            <p:ph type="ftr" idx="11"/>
          </p:nvPr>
        </p:nvSpPr>
        <p:spPr>
          <a:xfrm>
            <a:off x="1752297" y="6368914"/>
            <a:ext cx="5135216" cy="42213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endParaRPr lang="en-US" i="0" dirty="0">
              <a:solidFill>
                <a:schemeClr val="tx1"/>
              </a:solidFill>
            </a:endParaRPr>
          </a:p>
          <a:p>
            <a:endParaRPr i="0" dirty="0"/>
          </a:p>
        </p:txBody>
      </p:sp>
      <p:sp>
        <p:nvSpPr>
          <p:cNvPr id="108" name="Google Shape;108;p15"/>
          <p:cNvSpPr txBox="1"/>
          <p:nvPr/>
        </p:nvSpPr>
        <p:spPr>
          <a:xfrm>
            <a:off x="152400" y="1927600"/>
            <a:ext cx="8763000" cy="1536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2200" dirty="0">
                <a:latin typeface="Times New Roman" panose="02020603050405020304" pitchFamily="18" charset="0"/>
                <a:cs typeface="Times New Roman" panose="02020603050405020304" pitchFamily="18" charset="0"/>
              </a:rPr>
              <a:t>In today’s digital age, staying informed requires accessing news from multiple sources, which can be time-consuming and inefficient. Users often face challenges due to the absence of a centralized platform that aggregates real-time news across various categories.</a:t>
            </a:r>
            <a:endParaRPr sz="22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110" name="Google Shape;110;p15"/>
          <p:cNvSpPr txBox="1"/>
          <p:nvPr/>
        </p:nvSpPr>
        <p:spPr>
          <a:xfrm>
            <a:off x="190500" y="4165367"/>
            <a:ext cx="8686800" cy="1873885"/>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News Aggregator System</a:t>
            </a:r>
            <a:r>
              <a:rPr lang="en-US" sz="2200" dirty="0">
                <a:latin typeface="Times New Roman" panose="02020603050405020304" pitchFamily="18" charset="0"/>
                <a:cs typeface="Times New Roman" panose="02020603050405020304" pitchFamily="18" charset="0"/>
              </a:rPr>
              <a:t> addresses these challenges by providing a centralized platform to collect and display real-time news from multiple sources using the </a:t>
            </a:r>
            <a:r>
              <a:rPr lang="en-US" sz="2200" b="1" dirty="0" err="1">
                <a:latin typeface="Times New Roman" panose="02020603050405020304" pitchFamily="18" charset="0"/>
                <a:cs typeface="Times New Roman" panose="02020603050405020304" pitchFamily="18" charset="0"/>
              </a:rPr>
              <a:t>GNews</a:t>
            </a:r>
            <a:r>
              <a:rPr lang="en-US" sz="2200" b="1" dirty="0">
                <a:latin typeface="Times New Roman" panose="02020603050405020304" pitchFamily="18" charset="0"/>
                <a:cs typeface="Times New Roman" panose="02020603050405020304" pitchFamily="18" charset="0"/>
              </a:rPr>
              <a:t> API</a:t>
            </a:r>
            <a:r>
              <a:rPr lang="en-US" sz="2200" dirty="0">
                <a:latin typeface="Times New Roman" panose="02020603050405020304" pitchFamily="18" charset="0"/>
                <a:cs typeface="Times New Roman" panose="02020603050405020304" pitchFamily="18" charset="0"/>
              </a:rPr>
              <a:t>. This system automatically fetches the latest articles across various categories, ensuring users have access to up-to-date information in one place</a:t>
            </a:r>
            <a:endParaRPr sz="22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848" y="9940"/>
            <a:ext cx="1197666" cy="1232452"/>
          </a:xfrm>
          <a:custGeom>
            <a:avLst/>
            <a:gdLst/>
            <a:ahLst/>
            <a:cxnLst/>
            <a:rect l="l" t="t" r="r" b="b"/>
            <a:pathLst>
              <a:path w="1277510" h="1314615">
                <a:moveTo>
                  <a:pt x="0" y="0"/>
                </a:moveTo>
                <a:lnTo>
                  <a:pt x="1277510" y="0"/>
                </a:lnTo>
                <a:lnTo>
                  <a:pt x="1277510" y="1314615"/>
                </a:lnTo>
                <a:lnTo>
                  <a:pt x="0" y="1314615"/>
                </a:lnTo>
                <a:lnTo>
                  <a:pt x="0" y="0"/>
                </a:lnTo>
                <a:close/>
              </a:path>
            </a:pathLst>
          </a:custGeom>
          <a:blipFill>
            <a:blip r:embed="rId1"/>
            <a:stretch>
              <a:fillRect l="-22129" r="-23198" b="-44"/>
            </a:stretch>
          </a:blipFill>
        </p:spPr>
      </p:sp>
      <p:sp>
        <p:nvSpPr>
          <p:cNvPr id="3" name="TextBox 3"/>
          <p:cNvSpPr txBox="1"/>
          <p:nvPr/>
        </p:nvSpPr>
        <p:spPr>
          <a:xfrm>
            <a:off x="1143000" y="338386"/>
            <a:ext cx="7219326" cy="472117"/>
          </a:xfrm>
          <a:prstGeom prst="rect">
            <a:avLst/>
          </a:prstGeom>
        </p:spPr>
        <p:txBody>
          <a:bodyPr lIns="0" tIns="0" rIns="0" bIns="0" rtlCol="0" anchor="t">
            <a:spAutoFit/>
          </a:bodyPr>
          <a:lstStyle/>
          <a:p>
            <a:pPr algn="ctr">
              <a:lnSpc>
                <a:spcPts val="3885"/>
              </a:lnSpc>
            </a:pPr>
            <a:r>
              <a:rPr lang="en-US" sz="3200" b="1" spc="28" dirty="0">
                <a:solidFill>
                  <a:srgbClr val="0070C0"/>
                </a:solidFill>
                <a:latin typeface="Bookman Old Style" panose="02050604050505020204" pitchFamily="18" charset="0"/>
              </a:rPr>
              <a:t> Hardware Requirements</a:t>
            </a:r>
            <a:endParaRPr lang="en-US" sz="3200" b="1" spc="28" dirty="0">
              <a:solidFill>
                <a:srgbClr val="0070C0"/>
              </a:solidFill>
              <a:latin typeface="Bookman Old Style" panose="02050604050505020204" pitchFamily="18" charset="0"/>
            </a:endParaRPr>
          </a:p>
        </p:txBody>
      </p:sp>
      <p:sp>
        <p:nvSpPr>
          <p:cNvPr id="5" name="TextBox 5"/>
          <p:cNvSpPr txBox="1"/>
          <p:nvPr/>
        </p:nvSpPr>
        <p:spPr>
          <a:xfrm>
            <a:off x="2077708" y="6440940"/>
            <a:ext cx="4551692" cy="702756"/>
          </a:xfrm>
          <a:prstGeom prst="rect">
            <a:avLst/>
          </a:prstGeom>
        </p:spPr>
        <p:txBody>
          <a:bodyPr wrap="square" lIns="0" tIns="0" rIns="0" bIns="0" rtlCol="0" anchor="t">
            <a:spAutoFit/>
          </a:bodyPr>
          <a:lstStyle/>
          <a:p>
            <a:pPr algn="ctr"/>
            <a:r>
              <a:rPr lang="en-US" sz="1100"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sz="1100" i="0" dirty="0">
                <a:solidFill>
                  <a:schemeClr val="tx1"/>
                </a:solidFill>
              </a:rPr>
              <a:t>”)</a:t>
            </a:r>
            <a:endParaRPr lang="en-US" sz="1100" i="0" dirty="0">
              <a:solidFill>
                <a:schemeClr val="tx1"/>
              </a:solidFill>
            </a:endParaRPr>
          </a:p>
          <a:p>
            <a:pPr algn="ctr"/>
            <a:endParaRPr lang="en-US" sz="1100" i="0" dirty="0">
              <a:solidFill>
                <a:schemeClr val="tx1"/>
              </a:solidFill>
            </a:endParaRPr>
          </a:p>
          <a:p>
            <a:pPr algn="ctr"/>
            <a:endParaRPr lang="en-US" sz="1100" i="0" dirty="0"/>
          </a:p>
          <a:p>
            <a:pPr algn="ctr">
              <a:lnSpc>
                <a:spcPts val="1440"/>
              </a:lnSpc>
            </a:pPr>
            <a:endParaRPr lang="en-US" sz="1200" dirty="0">
              <a:solidFill>
                <a:srgbClr val="FF0000"/>
              </a:solidFill>
              <a:latin typeface="Arial Italics" panose="020B0502020202090204"/>
            </a:endParaRPr>
          </a:p>
        </p:txBody>
      </p:sp>
      <p:sp>
        <p:nvSpPr>
          <p:cNvPr id="6" name="TextBox 6"/>
          <p:cNvSpPr txBox="1"/>
          <p:nvPr/>
        </p:nvSpPr>
        <p:spPr>
          <a:xfrm>
            <a:off x="500581" y="1463510"/>
            <a:ext cx="6494821" cy="1548116"/>
          </a:xfrm>
          <a:prstGeom prst="rect">
            <a:avLst/>
          </a:prstGeom>
        </p:spPr>
        <p:txBody>
          <a:bodyPr lIns="0" tIns="0" rIns="0" bIns="0" rtlCol="0" anchor="t">
            <a:spAutoFit/>
          </a:bodyPr>
          <a:lstStyle/>
          <a:p>
            <a:pPr>
              <a:lnSpc>
                <a:spcPts val="3360"/>
              </a:lnSpc>
            </a:pPr>
            <a:r>
              <a:rPr lang="en-US" sz="2800">
                <a:latin typeface="Times New Roman Bold" panose="02030802070405020303"/>
              </a:rPr>
              <a:t>Windows Requirements</a:t>
            </a:r>
            <a:endParaRPr lang="en-US" sz="2800">
              <a:latin typeface="Times New Roman Bold" panose="02030802070405020303"/>
            </a:endParaRPr>
          </a:p>
          <a:p>
            <a:pPr marL="231775" lvl="1" indent="-116205">
              <a:lnSpc>
                <a:spcPts val="2160"/>
              </a:lnSpc>
              <a:buFont typeface="Arial" panose="020B0604020202020204"/>
              <a:buChar char="•"/>
            </a:pPr>
            <a:r>
              <a:rPr lang="en-US" sz="1800">
                <a:latin typeface="Times New Roman Bold" panose="02030802070405020303"/>
              </a:rPr>
              <a:t>RAM:</a:t>
            </a:r>
            <a:r>
              <a:rPr lang="en-US" sz="1800">
                <a:latin typeface="Times New Roman" panose="02020603050405020304"/>
              </a:rPr>
              <a:t> 4 GB</a:t>
            </a:r>
            <a:endParaRPr lang="en-US" sz="1800">
              <a:latin typeface="Times New Roman" panose="02020603050405020304"/>
            </a:endParaRPr>
          </a:p>
          <a:p>
            <a:pPr marL="231775" lvl="1" indent="-116205">
              <a:lnSpc>
                <a:spcPts val="2160"/>
              </a:lnSpc>
              <a:buFont typeface="Arial" panose="020B0604020202020204"/>
              <a:buChar char="•"/>
            </a:pPr>
            <a:r>
              <a:rPr lang="en-US" sz="1800">
                <a:latin typeface="Times New Roman Bold" panose="02030802070405020303"/>
              </a:rPr>
              <a:t>CPU:</a:t>
            </a:r>
            <a:r>
              <a:rPr lang="en-US" sz="1800">
                <a:latin typeface="Times New Roman" panose="02020603050405020304"/>
              </a:rPr>
              <a:t> Intel Pentium</a:t>
            </a:r>
            <a:endParaRPr lang="en-US" sz="1800">
              <a:latin typeface="Times New Roman" panose="02020603050405020304"/>
            </a:endParaRPr>
          </a:p>
          <a:p>
            <a:pPr marL="231775" lvl="1" indent="-116205">
              <a:lnSpc>
                <a:spcPts val="2160"/>
              </a:lnSpc>
              <a:buFont typeface="Arial" panose="020B0604020202020204"/>
              <a:buChar char="•"/>
            </a:pPr>
            <a:r>
              <a:rPr lang="en-US" sz="1800">
                <a:latin typeface="Times New Roman Bold" panose="02030802070405020303"/>
              </a:rPr>
              <a:t>Web Browser</a:t>
            </a:r>
            <a:r>
              <a:rPr lang="en-US" sz="1800">
                <a:latin typeface="Times New Roman" panose="02020603050405020304"/>
              </a:rPr>
              <a:t>: chrome, firefox, etc.</a:t>
            </a:r>
            <a:endParaRPr lang="en-US" sz="1800">
              <a:latin typeface="Times New Roman" panose="02020603050405020304"/>
            </a:endParaRPr>
          </a:p>
          <a:p>
            <a:pPr marL="231775" lvl="1" indent="-116205">
              <a:lnSpc>
                <a:spcPts val="2160"/>
              </a:lnSpc>
              <a:buFont typeface="Arial" panose="020B0604020202020204"/>
              <a:buChar char="•"/>
            </a:pPr>
            <a:r>
              <a:rPr lang="en-US" sz="1800">
                <a:latin typeface="Times New Roman Bold" panose="02030802070405020303"/>
              </a:rPr>
              <a:t>OS:</a:t>
            </a:r>
            <a:r>
              <a:rPr lang="en-US" sz="1800">
                <a:latin typeface="Times New Roman" panose="02020603050405020304"/>
              </a:rPr>
              <a:t> Windows 8</a:t>
            </a:r>
            <a:endParaRPr lang="en-US" sz="1800">
              <a:latin typeface="Times New Roman" panose="02020603050405020304"/>
            </a:endParaRPr>
          </a:p>
        </p:txBody>
      </p:sp>
      <p:sp>
        <p:nvSpPr>
          <p:cNvPr id="7" name="TextBox 7"/>
          <p:cNvSpPr txBox="1"/>
          <p:nvPr/>
        </p:nvSpPr>
        <p:spPr>
          <a:xfrm>
            <a:off x="304800" y="3424922"/>
            <a:ext cx="6494821" cy="2092325"/>
          </a:xfrm>
          <a:prstGeom prst="rect">
            <a:avLst/>
          </a:prstGeom>
        </p:spPr>
        <p:txBody>
          <a:bodyPr lIns="0" tIns="0" rIns="0" bIns="0" rtlCol="0" anchor="t">
            <a:spAutoFit/>
          </a:bodyPr>
          <a:lstStyle/>
          <a:p>
            <a:pPr>
              <a:lnSpc>
                <a:spcPts val="3360"/>
              </a:lnSpc>
            </a:pPr>
            <a:r>
              <a:rPr lang="en-US" sz="2800">
                <a:latin typeface="Times New Roman Bold" panose="02030802070405020303"/>
              </a:rPr>
              <a:t>Android Requirements</a:t>
            </a:r>
            <a:endParaRPr lang="en-US" sz="2800">
              <a:latin typeface="Times New Roman Bold" panose="02030802070405020303"/>
            </a:endParaRPr>
          </a:p>
          <a:p>
            <a:pPr marL="231775" lvl="1" indent="-116205">
              <a:lnSpc>
                <a:spcPts val="2160"/>
              </a:lnSpc>
              <a:buFont typeface="Arial" panose="020B0604020202020204"/>
              <a:buChar char="•"/>
            </a:pPr>
            <a:r>
              <a:rPr lang="en-US" sz="1800">
                <a:latin typeface="Times New Roman Bold" panose="02030802070405020303"/>
              </a:rPr>
              <a:t>RAM:</a:t>
            </a:r>
            <a:r>
              <a:rPr lang="en-US" sz="1800">
                <a:latin typeface="Times New Roman" panose="02020603050405020304"/>
              </a:rPr>
              <a:t> 4 GB</a:t>
            </a:r>
            <a:endParaRPr lang="en-US" sz="1800">
              <a:latin typeface="Times New Roman" panose="02020603050405020304"/>
            </a:endParaRPr>
          </a:p>
          <a:p>
            <a:pPr marL="231775" lvl="1" indent="-116205">
              <a:lnSpc>
                <a:spcPts val="2160"/>
              </a:lnSpc>
              <a:buFont typeface="Arial" panose="020B0604020202020204"/>
              <a:buChar char="•"/>
            </a:pPr>
            <a:r>
              <a:rPr lang="en-US" sz="1800">
                <a:latin typeface="Times New Roman Bold" panose="02030802070405020303"/>
              </a:rPr>
              <a:t>processor:</a:t>
            </a:r>
            <a:r>
              <a:rPr lang="en-US" sz="1800">
                <a:latin typeface="Times New Roman" panose="02020603050405020304"/>
              </a:rPr>
              <a:t> Snapdragon 425</a:t>
            </a:r>
            <a:endParaRPr lang="en-US" sz="1800">
              <a:latin typeface="Times New Roman" panose="02020603050405020304"/>
            </a:endParaRPr>
          </a:p>
          <a:p>
            <a:pPr marL="231775" lvl="1" indent="-116205">
              <a:lnSpc>
                <a:spcPts val="2160"/>
              </a:lnSpc>
              <a:buFont typeface="Arial" panose="020B0604020202020204"/>
              <a:buChar char="•"/>
            </a:pPr>
            <a:r>
              <a:rPr lang="en-US" sz="1800">
                <a:latin typeface="Times New Roman Bold" panose="02030802070405020303"/>
              </a:rPr>
              <a:t>Network: </a:t>
            </a:r>
            <a:r>
              <a:rPr lang="en-US" sz="1800">
                <a:latin typeface="Times New Roman" panose="02020603050405020304"/>
              </a:rPr>
              <a:t>Internet Connection 4g/5g.</a:t>
            </a:r>
            <a:endParaRPr lang="en-US" sz="1800">
              <a:latin typeface="Times New Roman" panose="02020603050405020304"/>
            </a:endParaRPr>
          </a:p>
          <a:p>
            <a:pPr marL="231775" lvl="1" indent="-116205">
              <a:lnSpc>
                <a:spcPts val="2160"/>
              </a:lnSpc>
              <a:buFont typeface="Arial" panose="020B0604020202020204"/>
              <a:buChar char="•"/>
            </a:pPr>
            <a:r>
              <a:rPr lang="en-US" sz="1800">
                <a:latin typeface="Times New Roman Bold" panose="02030802070405020303"/>
              </a:rPr>
              <a:t>OS:</a:t>
            </a:r>
            <a:r>
              <a:rPr lang="en-US" sz="1800">
                <a:latin typeface="Times New Roman" panose="02020603050405020304"/>
              </a:rPr>
              <a:t> Android 10</a:t>
            </a:r>
            <a:endParaRPr lang="en-US" sz="1800">
              <a:latin typeface="Times New Roman" panose="02020603050405020304"/>
            </a:endParaRPr>
          </a:p>
          <a:p>
            <a:pPr marL="231775" lvl="1" indent="-116205">
              <a:lnSpc>
                <a:spcPts val="2160"/>
              </a:lnSpc>
            </a:pPr>
            <a:endParaRPr lang="en-US" sz="1800">
              <a:latin typeface="Times New Roman" panose="02020603050405020304"/>
            </a:endParaRPr>
          </a:p>
          <a:p>
            <a:pPr marL="231775" lvl="1" indent="-116205">
              <a:lnSpc>
                <a:spcPts val="2160"/>
              </a:lnSpc>
            </a:pPr>
            <a:endParaRPr lang="en-US" sz="1800">
              <a:latin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848" y="9940"/>
            <a:ext cx="1197666" cy="1232452"/>
          </a:xfrm>
          <a:custGeom>
            <a:avLst/>
            <a:gdLst/>
            <a:ahLst/>
            <a:cxnLst/>
            <a:rect l="l" t="t" r="r" b="b"/>
            <a:pathLst>
              <a:path w="1277510" h="1314615">
                <a:moveTo>
                  <a:pt x="0" y="0"/>
                </a:moveTo>
                <a:lnTo>
                  <a:pt x="1277510" y="0"/>
                </a:lnTo>
                <a:lnTo>
                  <a:pt x="1277510" y="1314615"/>
                </a:lnTo>
                <a:lnTo>
                  <a:pt x="0" y="1314615"/>
                </a:lnTo>
                <a:lnTo>
                  <a:pt x="0" y="0"/>
                </a:lnTo>
                <a:close/>
              </a:path>
            </a:pathLst>
          </a:custGeom>
          <a:blipFill>
            <a:blip r:embed="rId1"/>
            <a:stretch>
              <a:fillRect l="-22129" r="-23198" b="-44"/>
            </a:stretch>
          </a:blipFill>
        </p:spPr>
      </p:sp>
      <p:sp>
        <p:nvSpPr>
          <p:cNvPr id="3" name="TextBox 3"/>
          <p:cNvSpPr txBox="1"/>
          <p:nvPr/>
        </p:nvSpPr>
        <p:spPr>
          <a:xfrm>
            <a:off x="1160885" y="338386"/>
            <a:ext cx="7219326" cy="510524"/>
          </a:xfrm>
          <a:prstGeom prst="rect">
            <a:avLst/>
          </a:prstGeom>
        </p:spPr>
        <p:txBody>
          <a:bodyPr lIns="0" tIns="0" rIns="0" bIns="0" rtlCol="0" anchor="t">
            <a:spAutoFit/>
          </a:bodyPr>
          <a:lstStyle/>
          <a:p>
            <a:pPr algn="ctr">
              <a:lnSpc>
                <a:spcPts val="3885"/>
              </a:lnSpc>
            </a:pPr>
            <a:r>
              <a:rPr lang="en-US" sz="4000" b="1" spc="28" dirty="0">
                <a:solidFill>
                  <a:srgbClr val="0070C0"/>
                </a:solidFill>
                <a:latin typeface="TT Phobos Bold Italics" panose="02000803060000090004"/>
              </a:rPr>
              <a:t> Software Requirements</a:t>
            </a:r>
            <a:endParaRPr lang="en-US" sz="4000" b="1" spc="28" dirty="0">
              <a:solidFill>
                <a:srgbClr val="0070C0"/>
              </a:solidFill>
              <a:latin typeface="TT Phobos Bold Italics" panose="02000803060000090004"/>
            </a:endParaRPr>
          </a:p>
        </p:txBody>
      </p:sp>
      <p:sp>
        <p:nvSpPr>
          <p:cNvPr id="5" name="TextBox 5"/>
          <p:cNvSpPr txBox="1"/>
          <p:nvPr/>
        </p:nvSpPr>
        <p:spPr>
          <a:xfrm>
            <a:off x="1025249" y="1387484"/>
            <a:ext cx="6941102" cy="4642296"/>
          </a:xfrm>
          <a:prstGeom prst="rect">
            <a:avLst/>
          </a:prstGeom>
        </p:spPr>
        <p:txBody>
          <a:bodyPr lIns="0" tIns="0" rIns="0" bIns="0" rtlCol="0" anchor="t">
            <a:spAutoFit/>
          </a:bodyPr>
          <a:lstStyle/>
          <a:p>
            <a:pPr algn="just">
              <a:lnSpc>
                <a:spcPts val="2160"/>
              </a:lnSpc>
            </a:pPr>
            <a:r>
              <a:rPr lang="en-US" sz="2000" dirty="0">
                <a:latin typeface="Times New Roman" panose="02020603050405020304" pitchFamily="18" charset="0"/>
                <a:cs typeface="Times New Roman" panose="02020603050405020304" pitchFamily="18" charset="0"/>
              </a:rPr>
              <a:t>1.Integrated Development Environment (IDE): Visual Studio Code (VS Code) Version: </a:t>
            </a:r>
            <a:r>
              <a:rPr lang="en-US" sz="2000" dirty="0">
                <a:solidFill>
                  <a:srgbClr val="242424"/>
                </a:solidFill>
                <a:latin typeface="Times New Roman" panose="02020603050405020304" pitchFamily="18" charset="0"/>
                <a:cs typeface="Times New Roman" panose="02020603050405020304" pitchFamily="18" charset="0"/>
              </a:rPr>
              <a:t>1.83.1</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gn="just">
              <a:lnSpc>
                <a:spcPts val="2160"/>
              </a:lnSpc>
            </a:pPr>
            <a:endParaRPr lang="en-US" sz="2000" dirty="0">
              <a:latin typeface="Times New Roman" panose="02020603050405020304" pitchFamily="18" charset="0"/>
              <a:cs typeface="Times New Roman" panose="02020603050405020304" pitchFamily="18" charset="0"/>
            </a:endParaRPr>
          </a:p>
          <a:p>
            <a:pPr marL="0" indent="0" algn="just">
              <a:lnSpc>
                <a:spcPts val="2160"/>
              </a:lnSpc>
              <a:buNone/>
            </a:pPr>
            <a:r>
              <a:rPr lang="en-US" sz="2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Backend:  </a:t>
            </a:r>
            <a:r>
              <a:rPr lang="en-US" altLang="en-US" sz="2000" dirty="0" err="1">
                <a:latin typeface="Times New Roman" panose="02020603050405020304" pitchFamily="18" charset="0"/>
                <a:cs typeface="Times New Roman" panose="02020603050405020304" pitchFamily="18" charset="0"/>
              </a:rPr>
              <a:t>i</a:t>
            </a:r>
            <a:r>
              <a:rPr lang="en-US" altLang="en-US" sz="2000" dirty="0">
                <a:latin typeface="Times New Roman" panose="02020603050405020304" pitchFamily="18" charset="0"/>
                <a:cs typeface="Times New Roman" panose="02020603050405020304" pitchFamily="18" charset="0"/>
              </a:rPr>
              <a:t>) Python 3.13.2  ii) Django framework 5.1.7</a:t>
            </a:r>
            <a:endParaRPr lang="en-US" altLang="en-US" sz="2000" dirty="0">
              <a:latin typeface="Times New Roman" panose="02020603050405020304" pitchFamily="18" charset="0"/>
              <a:cs typeface="Times New Roman" panose="02020603050405020304" pitchFamily="18" charset="0"/>
            </a:endParaRPr>
          </a:p>
          <a:p>
            <a:pPr marL="0" indent="0" algn="just">
              <a:lnSpc>
                <a:spcPts val="2160"/>
              </a:lnSpc>
              <a:buNone/>
            </a:pPr>
            <a:r>
              <a:rPr lang="en-US" altLang="en-US" sz="2000" dirty="0">
                <a:latin typeface="Times New Roman" panose="02020603050405020304" pitchFamily="18" charset="0"/>
                <a:cs typeface="Times New Roman" panose="02020603050405020304" pitchFamily="18" charset="0"/>
              </a:rPr>
              <a:t>                    </a:t>
            </a:r>
            <a:endParaRPr lang="en-US" altLang="en-US" sz="2000" dirty="0">
              <a:latin typeface="Times New Roman" panose="02020603050405020304" pitchFamily="18" charset="0"/>
              <a:cs typeface="Times New Roman" panose="02020603050405020304" pitchFamily="18" charset="0"/>
            </a:endParaRPr>
          </a:p>
          <a:p>
            <a:pPr algn="just">
              <a:lnSpc>
                <a:spcPts val="2160"/>
              </a:lnSpc>
            </a:pPr>
            <a:r>
              <a:rPr lang="en-US" sz="2000" dirty="0">
                <a:latin typeface="Times New Roman" panose="02020603050405020304" pitchFamily="18" charset="0"/>
                <a:cs typeface="Times New Roman" panose="02020603050405020304" pitchFamily="18" charset="0"/>
              </a:rPr>
              <a:t>3.</a:t>
            </a:r>
            <a:r>
              <a:rPr lang="en-US" altLang="en-US" sz="2000" dirty="0">
                <a:latin typeface="Times New Roman" panose="02020603050405020304" pitchFamily="18" charset="0"/>
                <a:cs typeface="Times New Roman" panose="02020603050405020304" pitchFamily="18" charset="0"/>
              </a:rPr>
              <a:t>API Integration: </a:t>
            </a:r>
            <a:r>
              <a:rPr lang="en-US" altLang="en-US" sz="2000" dirty="0" err="1">
                <a:latin typeface="Times New Roman" panose="02020603050405020304" pitchFamily="18" charset="0"/>
                <a:cs typeface="Times New Roman" panose="02020603050405020304" pitchFamily="18" charset="0"/>
              </a:rPr>
              <a:t>GNews</a:t>
            </a:r>
            <a:r>
              <a:rPr lang="en-US" altLang="en-US" sz="2000" dirty="0">
                <a:latin typeface="Times New Roman" panose="02020603050405020304" pitchFamily="18" charset="0"/>
                <a:cs typeface="Times New Roman" panose="02020603050405020304" pitchFamily="18" charset="0"/>
              </a:rPr>
              <a:t> API (for fetching real-time news data)</a:t>
            </a:r>
            <a:endParaRPr lang="en-US" altLang="en-US" sz="2000" dirty="0">
              <a:latin typeface="Times New Roman" panose="02020603050405020304" pitchFamily="18" charset="0"/>
              <a:cs typeface="Times New Roman" panose="02020603050405020304" pitchFamily="18" charset="0"/>
            </a:endParaRPr>
          </a:p>
          <a:p>
            <a:pPr algn="just">
              <a:lnSpc>
                <a:spcPts val="2160"/>
              </a:lnSpc>
            </a:pPr>
            <a:endParaRPr lang="en-US" altLang="en-US" sz="2000" dirty="0">
              <a:latin typeface="Times New Roman" panose="02020603050405020304" pitchFamily="18" charset="0"/>
              <a:cs typeface="Times New Roman" panose="02020603050405020304" pitchFamily="18" charset="0"/>
            </a:endParaRPr>
          </a:p>
          <a:p>
            <a:pPr algn="just">
              <a:lnSpc>
                <a:spcPts val="2160"/>
              </a:lnSpc>
            </a:pPr>
            <a:r>
              <a:rPr lang="en-US" sz="2000" dirty="0">
                <a:latin typeface="Times New Roman" panose="02020603050405020304" pitchFamily="18" charset="0"/>
                <a:cs typeface="Times New Roman" panose="02020603050405020304" pitchFamily="18" charset="0"/>
              </a:rPr>
              <a:t>4.Markup Language: Hypertext Markup Language (HTML5) Version: </a:t>
            </a:r>
            <a:r>
              <a:rPr lang="en-US" sz="2000" dirty="0">
                <a:solidFill>
                  <a:srgbClr val="333333"/>
                </a:solidFill>
                <a:latin typeface="Times New Roman" panose="02020603050405020304" pitchFamily="18" charset="0"/>
                <a:cs typeface="Times New Roman" panose="02020603050405020304" pitchFamily="18" charset="0"/>
              </a:rPr>
              <a:t>4.01</a:t>
            </a:r>
            <a:r>
              <a:rPr lang="en-US"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algn="just">
              <a:lnSpc>
                <a:spcPts val="2160"/>
              </a:lnSpc>
            </a:pPr>
            <a:endParaRPr lang="en-US" sz="2000" dirty="0">
              <a:latin typeface="Times New Roman" panose="02020603050405020304" pitchFamily="18" charset="0"/>
              <a:cs typeface="Times New Roman" panose="02020603050405020304" pitchFamily="18" charset="0"/>
            </a:endParaRPr>
          </a:p>
          <a:p>
            <a:pPr algn="just">
              <a:lnSpc>
                <a:spcPts val="1915"/>
              </a:lnSpc>
            </a:pPr>
            <a:r>
              <a:rPr lang="en-US" sz="2000" dirty="0">
                <a:latin typeface="Times New Roman" panose="02020603050405020304" pitchFamily="18" charset="0"/>
                <a:cs typeface="Times New Roman" panose="02020603050405020304" pitchFamily="18" charset="0"/>
              </a:rPr>
              <a:t>5.Styling: Cascading Style Sheets (CSS) Version W3.CSS.</a:t>
            </a:r>
            <a:endParaRPr lang="en-US" sz="2000" dirty="0">
              <a:latin typeface="Times New Roman" panose="02020603050405020304" pitchFamily="18" charset="0"/>
              <a:cs typeface="Times New Roman" panose="02020603050405020304" pitchFamily="18" charset="0"/>
            </a:endParaRPr>
          </a:p>
          <a:p>
            <a:pPr algn="just">
              <a:lnSpc>
                <a:spcPts val="1915"/>
              </a:lnSpc>
            </a:pPr>
            <a:endParaRPr lang="en-US" sz="2000" dirty="0">
              <a:latin typeface="Times New Roman" panose="02020603050405020304" pitchFamily="18" charset="0"/>
              <a:cs typeface="Times New Roman" panose="02020603050405020304" pitchFamily="18" charset="0"/>
            </a:endParaRPr>
          </a:p>
          <a:p>
            <a:pPr algn="just">
              <a:lnSpc>
                <a:spcPts val="1915"/>
              </a:lnSpc>
            </a:pPr>
            <a:r>
              <a:rPr lang="en-US" sz="2000" dirty="0">
                <a:latin typeface="Times New Roman" panose="02020603050405020304" pitchFamily="18" charset="0"/>
                <a:cs typeface="Times New Roman" panose="02020603050405020304" pitchFamily="18" charset="0"/>
              </a:rPr>
              <a:t>6.Scripting language: JavaScript (JS) Version: ES2024.</a:t>
            </a:r>
            <a:endParaRPr lang="en-US" sz="2000" dirty="0">
              <a:latin typeface="Times New Roman" panose="02020603050405020304" pitchFamily="18" charset="0"/>
              <a:cs typeface="Times New Roman" panose="02020603050405020304" pitchFamily="18" charset="0"/>
            </a:endParaRPr>
          </a:p>
          <a:p>
            <a:pPr algn="just">
              <a:lnSpc>
                <a:spcPts val="1915"/>
              </a:lnSpc>
            </a:pPr>
            <a:endParaRPr lang="en-US" sz="2000" dirty="0">
              <a:latin typeface="Times New Roman" panose="02020603050405020304" pitchFamily="18" charset="0"/>
              <a:cs typeface="Times New Roman" panose="02020603050405020304" pitchFamily="18" charset="0"/>
            </a:endParaRPr>
          </a:p>
          <a:p>
            <a:pPr algn="just">
              <a:lnSpc>
                <a:spcPts val="1915"/>
              </a:lnSpc>
            </a:pPr>
            <a:endParaRPr lang="en-US" sz="2000" dirty="0">
              <a:latin typeface="Times New Roman" panose="02020603050405020304" pitchFamily="18" charset="0"/>
              <a:cs typeface="Times New Roman" panose="02020603050405020304" pitchFamily="18" charset="0"/>
            </a:endParaRPr>
          </a:p>
          <a:p>
            <a:pPr algn="just">
              <a:lnSpc>
                <a:spcPts val="2160"/>
              </a:lnSpc>
            </a:pPr>
            <a:endParaRPr lang="en-US" sz="2000" dirty="0">
              <a:latin typeface="Times New Roman" panose="02020603050405020304" pitchFamily="18" charset="0"/>
              <a:cs typeface="Times New Roman" panose="02020603050405020304" pitchFamily="18" charset="0"/>
            </a:endParaRPr>
          </a:p>
          <a:p>
            <a:pPr algn="just">
              <a:lnSpc>
                <a:spcPts val="2160"/>
              </a:lnSpc>
            </a:pPr>
            <a:endParaRPr lang="en-US" sz="2000" dirty="0">
              <a:latin typeface="Times New Roman" panose="02020603050405020304" pitchFamily="18" charset="0"/>
              <a:cs typeface="Times New Roman" panose="02020603050405020304" pitchFamily="18" charset="0"/>
            </a:endParaRPr>
          </a:p>
        </p:txBody>
      </p:sp>
      <p:sp>
        <p:nvSpPr>
          <p:cNvPr id="6" name="TextBox 6"/>
          <p:cNvSpPr txBox="1"/>
          <p:nvPr/>
        </p:nvSpPr>
        <p:spPr>
          <a:xfrm>
            <a:off x="1905045" y="6476899"/>
            <a:ext cx="4963794" cy="923290"/>
          </a:xfrm>
          <a:prstGeom prst="rect">
            <a:avLst/>
          </a:prstGeom>
        </p:spPr>
        <p:txBody>
          <a:bodyPr lIns="0" tIns="0" rIns="0" bIns="0" rtlCol="0" anchor="t">
            <a:spAutoFit/>
          </a:bodyPr>
          <a:lstStyle/>
          <a:p>
            <a:pPr algn="ctr"/>
            <a:r>
              <a:rPr lang="en-US" sz="1200" dirty="0">
                <a:solidFill>
                  <a:schemeClr val="tx1"/>
                </a:solidFill>
                <a:sym typeface="+mn-ea"/>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sz="1200" dirty="0">
                <a:solidFill>
                  <a:schemeClr val="tx1"/>
                </a:solidFill>
                <a:sym typeface="+mn-ea"/>
              </a:rPr>
              <a:t>”)</a:t>
            </a:r>
            <a:endParaRPr lang="en-US" sz="1200" i="0" dirty="0">
              <a:solidFill>
                <a:schemeClr val="tx1"/>
              </a:solidFill>
            </a:endParaRPr>
          </a:p>
          <a:p>
            <a:pPr algn="ctr"/>
            <a:endParaRPr lang="en-US" sz="1200" i="0" dirty="0">
              <a:solidFill>
                <a:schemeClr val="tx1"/>
              </a:solidFill>
            </a:endParaRPr>
          </a:p>
          <a:p>
            <a:pPr algn="ctr"/>
            <a:endParaRPr lang="en-US" sz="1200" i="0" dirty="0"/>
          </a:p>
          <a:p>
            <a:pPr algn="ctr">
              <a:lnSpc>
                <a:spcPts val="1440"/>
              </a:lnSpc>
            </a:pPr>
            <a:endParaRPr lang="en-US" sz="1200" dirty="0">
              <a:solidFill>
                <a:srgbClr val="FF0000"/>
              </a:solidFill>
              <a:latin typeface="Arial Italics" panose="020B0502020202090204"/>
            </a:endParaRPr>
          </a:p>
          <a:p>
            <a:pPr algn="ctr">
              <a:lnSpc>
                <a:spcPts val="1440"/>
              </a:lnSpc>
            </a:pPr>
            <a:endParaRPr lang="en-US" sz="1200">
              <a:solidFill>
                <a:srgbClr val="FF0000"/>
              </a:solidFill>
              <a:latin typeface="Arial Italics" panose="020B0502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p:nvPr/>
        </p:nvSpPr>
        <p:spPr>
          <a:xfrm>
            <a:off x="1055913" y="270533"/>
            <a:ext cx="7347857" cy="862283"/>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Clr>
                <a:schemeClr val="dk1"/>
              </a:buClr>
              <a:buSzPts val="4000"/>
              <a:buFont typeface="Bookman Old Style" panose="02050604050505020204"/>
              <a:buNone/>
            </a:pPr>
            <a:r>
              <a:rPr lang="en-US" sz="3600" b="1" i="1">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Workflow</a:t>
            </a:r>
            <a:endParaRPr sz="3600" b="1" i="1">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 name="Google Shape;128;p17"/>
          <p:cNvSpPr txBox="1">
            <a:spLocks noGrp="1"/>
          </p:cNvSpPr>
          <p:nvPr>
            <p:ph type="ftr" idx="11"/>
          </p:nvPr>
        </p:nvSpPr>
        <p:spPr>
          <a:xfrm>
            <a:off x="1655763" y="6405563"/>
            <a:ext cx="5135562" cy="422275"/>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endParaRPr i="0" dirty="0"/>
          </a:p>
        </p:txBody>
      </p:sp>
      <p:pic>
        <p:nvPicPr>
          <p:cNvPr id="4" name="Picture 3"/>
          <p:cNvPicPr>
            <a:picLocks noChangeAspect="1"/>
          </p:cNvPicPr>
          <p:nvPr/>
        </p:nvPicPr>
        <p:blipFill>
          <a:blip r:embed="rId1"/>
          <a:stretch>
            <a:fillRect/>
          </a:stretch>
        </p:blipFill>
        <p:spPr>
          <a:xfrm>
            <a:off x="152400" y="1371600"/>
            <a:ext cx="8839200" cy="45600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9"/>
          <p:cNvSpPr txBox="1"/>
          <p:nvPr/>
        </p:nvSpPr>
        <p:spPr>
          <a:xfrm>
            <a:off x="898069" y="117890"/>
            <a:ext cx="7347857" cy="862283"/>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Clr>
                <a:schemeClr val="dk1"/>
              </a:buClr>
              <a:buSzPts val="4000"/>
              <a:buFont typeface="Bookman Old Style" panose="02050604050505020204"/>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Implementation Plan</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63" name="Google Shape;163;p19"/>
          <p:cNvSpPr txBox="1">
            <a:spLocks noGrp="1"/>
          </p:cNvSpPr>
          <p:nvPr>
            <p:ph type="ftr" idx="11"/>
          </p:nvPr>
        </p:nvSpPr>
        <p:spPr>
          <a:xfrm>
            <a:off x="1676542" y="6440876"/>
            <a:ext cx="5135216" cy="42213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endParaRPr lang="en-US" i="0" dirty="0"/>
          </a:p>
        </p:txBody>
      </p:sp>
      <p:sp>
        <p:nvSpPr>
          <p:cNvPr id="8" name="Rectangle 4"/>
          <p:cNvSpPr>
            <a:spLocks noChangeArrowheads="1"/>
          </p:cNvSpPr>
          <p:nvPr/>
        </p:nvSpPr>
        <p:spPr bwMode="auto">
          <a:xfrm>
            <a:off x="762000" y="1424365"/>
            <a:ext cx="7347857" cy="4707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Project Setup (Week 1)</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 Setup</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Install Python (latest version).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Set up a virtual environment.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Install Django framework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Initialization</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eaLnBrk="0" fontAlgn="base" hangingPunct="0">
              <a:spcBef>
                <a:spcPct val="0"/>
              </a:spcBef>
              <a:spcAft>
                <a:spcPct val="0"/>
              </a:spcAft>
              <a:buClrTx/>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a Django project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news_aggregator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a Django app (news).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Configure settings.py (templates, static files, installed apps).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2000" b="1" dirty="0">
                <a:ln>
                  <a:noFill/>
                </a:ln>
                <a:solidFill>
                  <a:schemeClr val="tx1"/>
                </a:solidFill>
                <a:effectLst/>
                <a:latin typeface="Times New Roman" panose="02020603050405020304" pitchFamily="18" charset="0"/>
                <a:cs typeface="Times New Roman" panose="02020603050405020304" pitchFamily="18" charset="0"/>
                <a:sym typeface="+mn-ea"/>
              </a:rPr>
              <a:t>2: API Integration (Week 2)</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lang="en-US" altLang="en-US" sz="1800" dirty="0" err="1">
                <a:ln>
                  <a:noFill/>
                </a:ln>
                <a:solidFill>
                  <a:schemeClr val="tx1"/>
                </a:solidFill>
                <a:effectLst/>
                <a:latin typeface="Times New Roman" panose="02020603050405020304" pitchFamily="18" charset="0"/>
                <a:cs typeface="Times New Roman" panose="02020603050405020304" pitchFamily="18" charset="0"/>
                <a:sym typeface="+mn-ea"/>
              </a:rPr>
              <a:t>GNews</a:t>
            </a:r>
            <a:r>
              <a:rPr lang="en-US" altLang="en-US" sz="1800" dirty="0">
                <a:ln>
                  <a:noFill/>
                </a:ln>
                <a:solidFill>
                  <a:schemeClr val="tx1"/>
                </a:solidFill>
                <a:effectLst/>
                <a:latin typeface="Times New Roman" panose="02020603050405020304" pitchFamily="18" charset="0"/>
                <a:cs typeface="Times New Roman" panose="02020603050405020304" pitchFamily="18" charset="0"/>
                <a:sym typeface="+mn-ea"/>
              </a:rPr>
              <a:t> API Setup</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lang="en-US" altLang="en-US" sz="1800" dirty="0">
                <a:ln>
                  <a:noFill/>
                </a:ln>
                <a:solidFill>
                  <a:schemeClr val="tx1"/>
                </a:solidFill>
                <a:effectLst/>
                <a:latin typeface="Times New Roman" panose="02020603050405020304" pitchFamily="18" charset="0"/>
                <a:cs typeface="Times New Roman" panose="02020603050405020304" pitchFamily="18" charset="0"/>
                <a:sym typeface="+mn-ea"/>
              </a:rPr>
              <a:t>Register for the </a:t>
            </a:r>
            <a:r>
              <a:rPr lang="en-US" altLang="en-US" sz="1800" b="1" dirty="0" err="1">
                <a:ln>
                  <a:noFill/>
                </a:ln>
                <a:solidFill>
                  <a:schemeClr val="tx1"/>
                </a:solidFill>
                <a:effectLst/>
                <a:latin typeface="Times New Roman" panose="02020603050405020304" pitchFamily="18" charset="0"/>
                <a:cs typeface="Times New Roman" panose="02020603050405020304" pitchFamily="18" charset="0"/>
                <a:sym typeface="+mn-ea"/>
              </a:rPr>
              <a:t>GNews</a:t>
            </a:r>
            <a:r>
              <a:rPr lang="en-US" altLang="en-US" sz="1800" b="1" dirty="0">
                <a:ln>
                  <a:noFill/>
                </a:ln>
                <a:solidFill>
                  <a:schemeClr val="tx1"/>
                </a:solidFill>
                <a:effectLst/>
                <a:latin typeface="Times New Roman" panose="02020603050405020304" pitchFamily="18" charset="0"/>
                <a:cs typeface="Times New Roman" panose="02020603050405020304" pitchFamily="18" charset="0"/>
                <a:sym typeface="+mn-ea"/>
              </a:rPr>
              <a:t> API</a:t>
            </a:r>
            <a:r>
              <a:rPr lang="en-US" altLang="en-US" sz="1800" dirty="0">
                <a:ln>
                  <a:noFill/>
                </a:ln>
                <a:solidFill>
                  <a:schemeClr val="tx1"/>
                </a:solidFill>
                <a:effectLst/>
                <a:latin typeface="Times New Roman" panose="02020603050405020304" pitchFamily="18" charset="0"/>
                <a:cs typeface="Times New Roman" panose="02020603050405020304" pitchFamily="18" charset="0"/>
                <a:sym typeface="+mn-ea"/>
              </a:rPr>
              <a:t> and get the API key.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lang="en-US" altLang="en-US" sz="1800" dirty="0">
                <a:ln>
                  <a:noFill/>
                </a:ln>
                <a:solidFill>
                  <a:schemeClr val="tx1"/>
                </a:solidFill>
                <a:effectLst/>
                <a:latin typeface="Times New Roman" panose="02020603050405020304" pitchFamily="18" charset="0"/>
                <a:cs typeface="Times New Roman" panose="02020603050405020304" pitchFamily="18" charset="0"/>
                <a:sym typeface="+mn-ea"/>
              </a:rPr>
              <a:t>Configure environment variables to store the API key securely.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lang="en-US" altLang="en-US" sz="1800" dirty="0">
                <a:ln>
                  <a:noFill/>
                </a:ln>
                <a:solidFill>
                  <a:schemeClr val="tx1"/>
                </a:solidFill>
                <a:effectLst/>
                <a:latin typeface="Times New Roman" panose="02020603050405020304" pitchFamily="18" charset="0"/>
                <a:cs typeface="Times New Roman" panose="02020603050405020304" pitchFamily="18" charset="0"/>
                <a:sym typeface="+mn-ea"/>
              </a:rPr>
              <a:t>Fetch and Display News</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lang="en-US" altLang="en-US" sz="1800" dirty="0">
                <a:ln>
                  <a:noFill/>
                </a:ln>
                <a:solidFill>
                  <a:schemeClr val="tx1"/>
                </a:solidFill>
                <a:effectLst/>
                <a:latin typeface="Times New Roman" panose="02020603050405020304" pitchFamily="18" charset="0"/>
                <a:cs typeface="Times New Roman" panose="02020603050405020304" pitchFamily="18" charset="0"/>
                <a:sym typeface="+mn-ea"/>
              </a:rPr>
              <a:t>Use Python’s requests module to fetch news from the </a:t>
            </a:r>
            <a:r>
              <a:rPr lang="en-US" altLang="en-US" sz="1800" dirty="0" err="1">
                <a:ln>
                  <a:noFill/>
                </a:ln>
                <a:solidFill>
                  <a:schemeClr val="tx1"/>
                </a:solidFill>
                <a:effectLst/>
                <a:latin typeface="Times New Roman" panose="02020603050405020304" pitchFamily="18" charset="0"/>
                <a:cs typeface="Times New Roman" panose="02020603050405020304" pitchFamily="18" charset="0"/>
                <a:sym typeface="+mn-ea"/>
              </a:rPr>
              <a:t>GNews</a:t>
            </a:r>
            <a:r>
              <a:rPr lang="en-US" altLang="en-US" sz="1800" dirty="0">
                <a:ln>
                  <a:noFill/>
                </a:ln>
                <a:solidFill>
                  <a:schemeClr val="tx1"/>
                </a:solidFill>
                <a:effectLst/>
                <a:latin typeface="Times New Roman" panose="02020603050405020304" pitchFamily="18" charset="0"/>
                <a:cs typeface="Times New Roman" panose="02020603050405020304" pitchFamily="18" charset="0"/>
                <a:sym typeface="+mn-ea"/>
              </a:rPr>
              <a:t> API.</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lang="en-US" altLang="en-US" sz="1800" dirty="0">
                <a:ln>
                  <a:noFill/>
                </a:ln>
                <a:solidFill>
                  <a:schemeClr val="tx1"/>
                </a:solidFill>
                <a:effectLst/>
                <a:latin typeface="Times New Roman" panose="02020603050405020304" pitchFamily="18" charset="0"/>
                <a:cs typeface="Times New Roman" panose="02020603050405020304" pitchFamily="18" charset="0"/>
                <a:sym typeface="+mn-ea"/>
              </a:rPr>
              <a:t>Create a function in </a:t>
            </a:r>
            <a:r>
              <a:rPr lang="en-US" altLang="en-US" sz="1800" b="1" dirty="0">
                <a:ln>
                  <a:noFill/>
                </a:ln>
                <a:solidFill>
                  <a:schemeClr val="tx1"/>
                </a:solidFill>
                <a:effectLst/>
                <a:latin typeface="Times New Roman" panose="02020603050405020304" pitchFamily="18" charset="0"/>
                <a:cs typeface="Times New Roman" panose="02020603050405020304" pitchFamily="18" charset="0"/>
                <a:sym typeface="+mn-ea"/>
              </a:rPr>
              <a:t>views.py</a:t>
            </a:r>
            <a:r>
              <a:rPr lang="en-US" altLang="en-US" sz="1800" dirty="0">
                <a:ln>
                  <a:noFill/>
                </a:ln>
                <a:solidFill>
                  <a:schemeClr val="tx1"/>
                </a:solidFill>
                <a:effectLst/>
                <a:latin typeface="Times New Roman" panose="02020603050405020304" pitchFamily="18" charset="0"/>
                <a:cs typeface="Times New Roman" panose="02020603050405020304" pitchFamily="18" charset="0"/>
                <a:sym typeface="+mn-ea"/>
              </a:rPr>
              <a:t> to call the API and parse the response.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lang="en-US" altLang="en-US" sz="1800" dirty="0">
                <a:ln>
                  <a:noFill/>
                </a:ln>
                <a:solidFill>
                  <a:schemeClr val="tx1"/>
                </a:solidFill>
                <a:effectLst/>
                <a:latin typeface="Times New Roman" panose="02020603050405020304" pitchFamily="18" charset="0"/>
                <a:cs typeface="Times New Roman" panose="02020603050405020304" pitchFamily="18" charset="0"/>
                <a:sym typeface="+mn-ea"/>
              </a:rPr>
              <a:t>Display news articles dynamically on the homepage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9"/>
          <p:cNvSpPr txBox="1"/>
          <p:nvPr/>
        </p:nvSpPr>
        <p:spPr>
          <a:xfrm>
            <a:off x="898069" y="117890"/>
            <a:ext cx="7347857" cy="862283"/>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Clr>
                <a:schemeClr val="dk1"/>
              </a:buClr>
              <a:buSzPts val="4000"/>
              <a:buFont typeface="Bookman Old Style" panose="02050604050505020204"/>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Implementation Plan</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63" name="Google Shape;163;p19"/>
          <p:cNvSpPr txBox="1">
            <a:spLocks noGrp="1"/>
          </p:cNvSpPr>
          <p:nvPr>
            <p:ph type="ftr" idx="11"/>
          </p:nvPr>
        </p:nvSpPr>
        <p:spPr>
          <a:xfrm>
            <a:off x="1676542" y="6440876"/>
            <a:ext cx="5135216" cy="42213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pPr marL="0" lvl="0" indent="0" algn="ctr" rtl="0">
              <a:spcBef>
                <a:spcPts val="0"/>
              </a:spcBef>
              <a:spcAft>
                <a:spcPts val="0"/>
              </a:spcAft>
              <a:buNone/>
            </a:pPr>
            <a:endParaRPr lang="en-US" i="0" dirty="0"/>
          </a:p>
        </p:txBody>
      </p:sp>
      <p:sp>
        <p:nvSpPr>
          <p:cNvPr id="3" name="TextBox 2"/>
          <p:cNvSpPr txBox="1"/>
          <p:nvPr/>
        </p:nvSpPr>
        <p:spPr>
          <a:xfrm>
            <a:off x="533400" y="1295401"/>
            <a:ext cx="8077200" cy="479996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3: Core Features Development (Week 3–4)</a:t>
            </a:r>
            <a:endParaRPr lang="en-US" sz="2000" b="1" dirty="0">
              <a:latin typeface="Times New Roman" panose="02020603050405020304" pitchFamily="18" charset="0"/>
              <a:cs typeface="Times New Roman" panose="02020603050405020304" pitchFamily="18" charset="0"/>
            </a:endParaRPr>
          </a:p>
          <a:p>
            <a:pPr>
              <a:buFont typeface="+mj-lt"/>
              <a:buAutoNum type="arabicPeriod"/>
            </a:pPr>
            <a:r>
              <a:rPr lang="en-US" sz="1800" dirty="0">
                <a:latin typeface="Times New Roman" panose="02020603050405020304" pitchFamily="18" charset="0"/>
                <a:cs typeface="Times New Roman" panose="02020603050405020304" pitchFamily="18" charset="0"/>
              </a:rPr>
              <a:t>News Categorization</a:t>
            </a:r>
            <a:endParaRPr lang="en-US" sz="18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Add filters to display news by categories (e.g., Sports, Technology, Business).</a:t>
            </a:r>
            <a:endParaRPr lang="en-US" sz="16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Update API calls to fetch category-specific news.</a:t>
            </a:r>
            <a:endParaRPr lang="en-US" sz="1600" dirty="0">
              <a:latin typeface="Times New Roman" panose="02020603050405020304" pitchFamily="18" charset="0"/>
              <a:cs typeface="Times New Roman" panose="02020603050405020304" pitchFamily="18" charset="0"/>
            </a:endParaRPr>
          </a:p>
          <a:p>
            <a:pPr>
              <a:buFont typeface="+mj-lt"/>
              <a:buAutoNum type="arabicPeriod"/>
            </a:pPr>
            <a:r>
              <a:rPr lang="en-US" sz="1800" dirty="0">
                <a:latin typeface="Times New Roman" panose="02020603050405020304" pitchFamily="18" charset="0"/>
                <a:cs typeface="Times New Roman" panose="02020603050405020304" pitchFamily="18" charset="0"/>
              </a:rPr>
              <a:t>Search Functionality</a:t>
            </a:r>
            <a:endParaRPr lang="en-US" sz="18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Implement a search bar to find articles by keywords.</a:t>
            </a:r>
            <a:endParaRPr lang="en-US" sz="16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Modify the API query to include user search input</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buFont typeface="+mj-lt"/>
              <a:buAutoNum type="arabicPeriod"/>
            </a:pPr>
            <a:r>
              <a:rPr lang="en-US" sz="1800" dirty="0">
                <a:latin typeface="Times New Roman" panose="02020603050405020304" pitchFamily="18" charset="0"/>
                <a:cs typeface="Times New Roman" panose="02020603050405020304" pitchFamily="18" charset="0"/>
              </a:rPr>
              <a:t>Pagination</a:t>
            </a:r>
            <a:endParaRPr lang="en-US" sz="18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Implement pagination to handle large datasets and improve performance.</a:t>
            </a:r>
            <a:endParaRPr lang="en-US" sz="1600" dirty="0">
              <a:latin typeface="Times New Roman" panose="02020603050405020304" pitchFamily="18" charset="0"/>
              <a:cs typeface="Times New Roman" panose="02020603050405020304" pitchFamily="18" charset="0"/>
            </a:endParaRPr>
          </a:p>
          <a:p>
            <a:pPr marL="742950" lvl="1" indent="-285750">
              <a:buFont typeface="+mj-lt"/>
              <a:buAutoNum type="arabicPeriod"/>
            </a:pPr>
            <a:endParaRPr lang="en-US" sz="16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4: User Interface (Week 5)</a:t>
            </a:r>
            <a:endParaRPr lang="en-IN" sz="2000" b="1" dirty="0">
              <a:latin typeface="Times New Roman" panose="02020603050405020304" pitchFamily="18" charset="0"/>
              <a:cs typeface="Times New Roman" panose="02020603050405020304" pitchFamily="18" charset="0"/>
            </a:endParaRPr>
          </a:p>
          <a:p>
            <a:pPr>
              <a:buFont typeface="+mj-lt"/>
              <a:buAutoNum type="arabicPeriod"/>
            </a:pPr>
            <a:r>
              <a:rPr lang="en-IN" sz="1800" dirty="0">
                <a:latin typeface="Times New Roman" panose="02020603050405020304" pitchFamily="18" charset="0"/>
                <a:cs typeface="Times New Roman" panose="02020603050405020304" pitchFamily="18" charset="0"/>
              </a:rPr>
              <a:t>Frontend Design</a:t>
            </a:r>
            <a:endParaRPr lang="en-IN" sz="18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Create a responsive layout using </a:t>
            </a:r>
            <a:r>
              <a:rPr lang="en-IN" sz="1600" b="1" dirty="0">
                <a:latin typeface="Times New Roman" panose="02020603050405020304" pitchFamily="18" charset="0"/>
                <a:cs typeface="Times New Roman" panose="02020603050405020304" pitchFamily="18" charset="0"/>
              </a:rPr>
              <a:t>HTML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CSS</a:t>
            </a:r>
            <a:r>
              <a:rPr lang="en-IN" sz="1600" dirty="0">
                <a:latin typeface="Times New Roman" panose="02020603050405020304" pitchFamily="18" charset="0"/>
                <a:cs typeface="Times New Roman" panose="02020603050405020304" pitchFamily="18" charset="0"/>
              </a:rPr>
              <a:t>, and </a:t>
            </a:r>
            <a:r>
              <a:rPr lang="en-IN" sz="1600" b="1" dirty="0">
                <a:latin typeface="Times New Roman" panose="02020603050405020304" pitchFamily="18" charset="0"/>
                <a:cs typeface="Times New Roman" panose="02020603050405020304" pitchFamily="18" charset="0"/>
              </a:rPr>
              <a:t>Bootstrap</a:t>
            </a:r>
            <a:r>
              <a:rPr lang="en-IN"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Ensure smooth navigation between categories and search results.</a:t>
            </a:r>
            <a:endParaRPr lang="en-IN" sz="1600" dirty="0">
              <a:latin typeface="Times New Roman" panose="02020603050405020304" pitchFamily="18" charset="0"/>
              <a:cs typeface="Times New Roman" panose="02020603050405020304" pitchFamily="18" charset="0"/>
            </a:endParaRPr>
          </a:p>
          <a:p>
            <a:pPr>
              <a:buFont typeface="+mj-lt"/>
              <a:buAutoNum type="arabicPeriod"/>
            </a:pPr>
            <a:r>
              <a:rPr lang="en-IN" sz="1800" dirty="0">
                <a:latin typeface="Times New Roman" panose="02020603050405020304" pitchFamily="18" charset="0"/>
                <a:cs typeface="Times New Roman" panose="02020603050405020304" pitchFamily="18" charset="0"/>
              </a:rPr>
              <a:t>Enhance User Experience</a:t>
            </a:r>
            <a:endParaRPr lang="en-IN" sz="18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Implement </a:t>
            </a:r>
            <a:r>
              <a:rPr lang="en-IN" sz="1600" b="1" dirty="0">
                <a:latin typeface="Times New Roman" panose="02020603050405020304" pitchFamily="18" charset="0"/>
                <a:cs typeface="Times New Roman" panose="02020603050405020304" pitchFamily="18" charset="0"/>
              </a:rPr>
              <a:t>JavaScript</a:t>
            </a:r>
            <a:r>
              <a:rPr lang="en-IN" sz="1600" dirty="0">
                <a:latin typeface="Times New Roman" panose="02020603050405020304" pitchFamily="18" charset="0"/>
                <a:cs typeface="Times New Roman" panose="02020603050405020304" pitchFamily="18" charset="0"/>
              </a:rPr>
              <a:t> for dynamic updates without page reloads.</a:t>
            </a:r>
            <a:endParaRPr lang="en-IN" sz="16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Use loading spinners while fetching news.</a:t>
            </a:r>
            <a:endParaRPr lang="en-IN" sz="1600" dirty="0">
              <a:latin typeface="Times New Roman" panose="02020603050405020304" pitchFamily="18" charset="0"/>
              <a:cs typeface="Times New Roman" panose="02020603050405020304" pitchFamily="18" charset="0"/>
            </a:endParaRPr>
          </a:p>
          <a:p>
            <a:pPr marL="457200" lvl="1"/>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9"/>
          <p:cNvSpPr txBox="1"/>
          <p:nvPr/>
        </p:nvSpPr>
        <p:spPr>
          <a:xfrm>
            <a:off x="957943" y="117890"/>
            <a:ext cx="7347857" cy="862283"/>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Clr>
                <a:schemeClr val="dk1"/>
              </a:buClr>
              <a:buSzPts val="4000"/>
              <a:buFont typeface="Bookman Old Style" panose="02050604050505020204"/>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Implementation Plan</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63" name="Google Shape;163;p19"/>
          <p:cNvSpPr txBox="1">
            <a:spLocks noGrp="1"/>
          </p:cNvSpPr>
          <p:nvPr>
            <p:ph type="ftr" idx="11"/>
          </p:nvPr>
        </p:nvSpPr>
        <p:spPr>
          <a:xfrm>
            <a:off x="1676542" y="6440876"/>
            <a:ext cx="5135216" cy="42213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endParaRPr lang="en-US" i="0" dirty="0"/>
          </a:p>
        </p:txBody>
      </p:sp>
      <p:sp>
        <p:nvSpPr>
          <p:cNvPr id="3" name="TextBox 2"/>
          <p:cNvSpPr txBox="1"/>
          <p:nvPr/>
        </p:nvSpPr>
        <p:spPr>
          <a:xfrm>
            <a:off x="609600" y="1336119"/>
            <a:ext cx="7772400" cy="3969385"/>
          </a:xfrm>
          <a:prstGeom prst="rect">
            <a:avLst/>
          </a:prstGeom>
          <a:noFill/>
        </p:spPr>
        <p:txBody>
          <a:bodyPr wrap="square">
            <a:spAutoFit/>
          </a:bodyPr>
          <a:lstStyle/>
          <a:p>
            <a:pPr algn="just">
              <a:buNone/>
            </a:pPr>
            <a:r>
              <a:rPr lang="en-IN" sz="2000" b="1" dirty="0">
                <a:latin typeface="Times New Roman" panose="02020603050405020304" pitchFamily="18" charset="0"/>
                <a:cs typeface="Times New Roman" panose="02020603050405020304" pitchFamily="18" charset="0"/>
              </a:rPr>
              <a:t>5</a:t>
            </a:r>
            <a:r>
              <a:rPr lang="en-IN" sz="2000" b="1" dirty="0">
                <a:latin typeface="Times New Roman" panose="02020603050405020304" pitchFamily="18" charset="0"/>
                <a:cs typeface="Times New Roman" panose="02020603050405020304" pitchFamily="18" charset="0"/>
              </a:rPr>
              <a:t>: System Optimization (Week 6)</a:t>
            </a:r>
            <a:endParaRPr lang="en-IN" sz="2000" b="1" dirty="0">
              <a:latin typeface="Times New Roman" panose="02020603050405020304" pitchFamily="18" charset="0"/>
              <a:cs typeface="Times New Roman" panose="02020603050405020304" pitchFamily="18" charset="0"/>
            </a:endParaRPr>
          </a:p>
          <a:p>
            <a:pPr algn="just">
              <a:buFont typeface="+mj-lt"/>
              <a:buAutoNum type="arabicPeriod"/>
            </a:pPr>
            <a:r>
              <a:rPr lang="en-IN" sz="1800" dirty="0">
                <a:latin typeface="Times New Roman" panose="02020603050405020304" pitchFamily="18" charset="0"/>
                <a:cs typeface="Times New Roman" panose="02020603050405020304" pitchFamily="18" charset="0"/>
              </a:rPr>
              <a:t>Caching</a:t>
            </a:r>
            <a:endParaRPr lang="en-IN" sz="1800"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IN" sz="1600" dirty="0">
                <a:latin typeface="Times New Roman" panose="02020603050405020304" pitchFamily="18" charset="0"/>
                <a:cs typeface="Times New Roman" panose="02020603050405020304" pitchFamily="18" charset="0"/>
              </a:rPr>
              <a:t>Implement caching using Django’s cache framework to store API responses</a:t>
            </a:r>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buFont typeface="+mj-lt"/>
              <a:buAutoNum type="arabicPeriod"/>
            </a:pPr>
            <a:r>
              <a:rPr lang="en-IN" sz="1800" dirty="0">
                <a:latin typeface="Times New Roman" panose="02020603050405020304" pitchFamily="18" charset="0"/>
                <a:cs typeface="Times New Roman" panose="02020603050405020304" pitchFamily="18" charset="0"/>
              </a:rPr>
              <a:t>Error Handling</a:t>
            </a:r>
            <a:endParaRPr lang="en-IN" sz="1800" dirty="0">
              <a:latin typeface="Times New Roman" panose="02020603050405020304" pitchFamily="18" charset="0"/>
              <a:cs typeface="Times New Roman" panose="02020603050405020304" pitchFamily="18" charset="0"/>
            </a:endParaRPr>
          </a:p>
          <a:p>
            <a:pPr marL="742950" indent="-285750" algn="just">
              <a:buFont typeface="+mj-lt"/>
              <a:buAutoNum type="arabicPeriod"/>
            </a:pPr>
            <a:r>
              <a:rPr lang="en-IN" sz="1600" dirty="0">
                <a:latin typeface="Times New Roman" panose="02020603050405020304" pitchFamily="18" charset="0"/>
                <a:cs typeface="Times New Roman" panose="02020603050405020304" pitchFamily="18" charset="0"/>
              </a:rPr>
              <a:t>Handle API errors (e.g., failed requests, rate limits).</a:t>
            </a:r>
            <a:endParaRPr lang="en-IN" sz="1600"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IN" sz="1600" dirty="0">
                <a:latin typeface="Times New Roman" panose="02020603050405020304" pitchFamily="18" charset="0"/>
                <a:cs typeface="Times New Roman" panose="02020603050405020304" pitchFamily="18" charset="0"/>
              </a:rPr>
              <a:t>Display meaningful error messages to users</a:t>
            </a:r>
            <a:endParaRPr lang="en-IN" sz="1600"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endParaRPr lang="en-IN"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6</a:t>
            </a:r>
            <a:r>
              <a:rPr lang="en-US" sz="2000" b="1" dirty="0">
                <a:latin typeface="Times New Roman" panose="02020603050405020304" pitchFamily="18" charset="0"/>
                <a:cs typeface="Times New Roman" panose="02020603050405020304" pitchFamily="18" charset="0"/>
              </a:rPr>
              <a:t>: Testing and Deployment (Week 7–8)</a:t>
            </a:r>
            <a:endParaRPr lang="en-US" sz="2000" b="1" dirty="0">
              <a:latin typeface="Times New Roman" panose="02020603050405020304" pitchFamily="18" charset="0"/>
              <a:cs typeface="Times New Roman" panose="02020603050405020304" pitchFamily="18" charset="0"/>
            </a:endParaRPr>
          </a:p>
          <a:p>
            <a:pPr algn="just">
              <a:buFont typeface="+mj-lt"/>
              <a:buAutoNum type="arabicPeriod"/>
            </a:pPr>
            <a:r>
              <a:rPr lang="en-US" sz="1800" b="1" dirty="0">
                <a:latin typeface="Times New Roman" panose="02020603050405020304" pitchFamily="18" charset="0"/>
                <a:cs typeface="Times New Roman" panose="02020603050405020304" pitchFamily="18" charset="0"/>
              </a:rPr>
              <a:t>Testing</a:t>
            </a:r>
            <a:endParaRPr lang="en-US" sz="1800"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sz="1600" dirty="0">
                <a:latin typeface="Times New Roman" panose="02020603050405020304" pitchFamily="18" charset="0"/>
                <a:cs typeface="Times New Roman" panose="02020603050405020304" pitchFamily="18" charset="0"/>
              </a:rPr>
              <a:t>Perform unit testing (Django test framework) for API calls and views.</a:t>
            </a:r>
            <a:endParaRPr lang="en-US" sz="1600"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sz="1600" dirty="0">
                <a:latin typeface="Times New Roman" panose="02020603050405020304" pitchFamily="18" charset="0"/>
                <a:cs typeface="Times New Roman" panose="02020603050405020304" pitchFamily="18" charset="0"/>
              </a:rPr>
              <a:t>Test the search, category filters, and pagination.</a:t>
            </a:r>
            <a:endParaRPr lang="en-US" sz="1600" dirty="0">
              <a:latin typeface="Times New Roman" panose="02020603050405020304" pitchFamily="18" charset="0"/>
              <a:cs typeface="Times New Roman" panose="02020603050405020304" pitchFamily="18" charset="0"/>
            </a:endParaRPr>
          </a:p>
          <a:p>
            <a:pPr algn="just">
              <a:buFont typeface="+mj-lt"/>
              <a:buAutoNum type="arabicPeriod"/>
            </a:pPr>
            <a:r>
              <a:rPr lang="en-US" sz="1800" b="1" dirty="0">
                <a:latin typeface="Times New Roman" panose="02020603050405020304" pitchFamily="18" charset="0"/>
                <a:cs typeface="Times New Roman" panose="02020603050405020304" pitchFamily="18" charset="0"/>
              </a:rPr>
              <a:t>Deployment</a:t>
            </a:r>
            <a:endParaRPr lang="en-US" sz="1800"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sz="1600" dirty="0">
                <a:latin typeface="Times New Roman" panose="02020603050405020304" pitchFamily="18" charset="0"/>
                <a:cs typeface="Times New Roman" panose="02020603050405020304" pitchFamily="18" charset="0"/>
              </a:rPr>
              <a:t>Prepare for deployment using </a:t>
            </a:r>
            <a:r>
              <a:rPr lang="en-US" sz="1600" b="1" dirty="0" err="1">
                <a:latin typeface="Times New Roman" panose="02020603050405020304" pitchFamily="18" charset="0"/>
                <a:cs typeface="Times New Roman" panose="02020603050405020304" pitchFamily="18" charset="0"/>
              </a:rPr>
              <a:t>Gunicorn</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NGINX</a:t>
            </a:r>
            <a:r>
              <a:rPr lang="en-US"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sz="1600" dirty="0">
                <a:latin typeface="Times New Roman" panose="02020603050405020304" pitchFamily="18" charset="0"/>
                <a:cs typeface="Times New Roman" panose="02020603050405020304" pitchFamily="18" charset="0"/>
              </a:rPr>
              <a:t>Deploy on </a:t>
            </a:r>
            <a:r>
              <a:rPr lang="en-US" sz="1600" b="1" dirty="0">
                <a:latin typeface="Times New Roman" panose="02020603050405020304" pitchFamily="18" charset="0"/>
                <a:cs typeface="Times New Roman" panose="02020603050405020304" pitchFamily="18" charset="0"/>
              </a:rPr>
              <a:t>Heroku</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AWS</a:t>
            </a:r>
            <a:r>
              <a:rPr lang="en-US" sz="1600" dirty="0">
                <a:latin typeface="Times New Roman" panose="02020603050405020304" pitchFamily="18" charset="0"/>
                <a:cs typeface="Times New Roman" panose="02020603050405020304" pitchFamily="18" charset="0"/>
              </a:rPr>
              <a:t>, or </a:t>
            </a:r>
            <a:r>
              <a:rPr lang="en-US" sz="1600" b="1" dirty="0">
                <a:latin typeface="Times New Roman" panose="02020603050405020304" pitchFamily="18" charset="0"/>
                <a:cs typeface="Times New Roman" panose="02020603050405020304" pitchFamily="18" charset="0"/>
              </a:rPr>
              <a:t>PythonAnywhere</a:t>
            </a:r>
            <a:r>
              <a:rPr lang="en-US"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457200" lvl="1" algn="just"/>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a:spLocks noGrp="1"/>
          </p:cNvSpPr>
          <p:nvPr>
            <p:ph type="ctrTitle"/>
          </p:nvPr>
        </p:nvSpPr>
        <p:spPr>
          <a:xfrm>
            <a:off x="2064299" y="-194827"/>
            <a:ext cx="5091600" cy="1194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Result / Output</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 name="Text Box 1"/>
          <p:cNvSpPr txBox="1"/>
          <p:nvPr/>
        </p:nvSpPr>
        <p:spPr>
          <a:xfrm>
            <a:off x="3004501" y="6418580"/>
            <a:ext cx="3211195" cy="439420"/>
          </a:xfrm>
          <a:prstGeom prst="rect">
            <a:avLst/>
          </a:prstGeom>
          <a:noFill/>
        </p:spPr>
        <p:txBody>
          <a:bodyPr wrap="square" rtlCol="0">
            <a:noAutofit/>
          </a:bodyPr>
          <a:lstStyle/>
          <a:p>
            <a:r>
              <a:rPr lang="en-US" sz="1100"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sz="1100" i="0" dirty="0">
                <a:solidFill>
                  <a:schemeClr val="tx1"/>
                </a:solidFill>
              </a:rPr>
              <a:t>”)</a:t>
            </a:r>
            <a:endParaRPr lang="en-US" sz="1100" i="0" dirty="0">
              <a:solidFill>
                <a:schemeClr val="tx1"/>
              </a:solidFill>
            </a:endParaRPr>
          </a:p>
          <a:p>
            <a:pPr marL="0" lvl="0" indent="0" algn="ctr" rtl="0">
              <a:spcBef>
                <a:spcPts val="0"/>
              </a:spcBef>
              <a:spcAft>
                <a:spcPts val="0"/>
              </a:spcAft>
              <a:buNone/>
            </a:pPr>
            <a:endParaRPr lang="en-US" sz="1100" i="0" dirty="0"/>
          </a:p>
          <a:p>
            <a:pPr algn="ctr"/>
            <a:endParaRPr lang="en-US" sz="1200"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381000" y="1295400"/>
            <a:ext cx="8382000" cy="399621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a:spLocks noGrp="1"/>
          </p:cNvSpPr>
          <p:nvPr>
            <p:ph type="ctrTitle"/>
          </p:nvPr>
        </p:nvSpPr>
        <p:spPr>
          <a:xfrm>
            <a:off x="2064299" y="-194827"/>
            <a:ext cx="5091600" cy="1194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Result / Output</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 name="Text Box 1"/>
          <p:cNvSpPr txBox="1"/>
          <p:nvPr/>
        </p:nvSpPr>
        <p:spPr>
          <a:xfrm>
            <a:off x="2827838" y="6536055"/>
            <a:ext cx="3211195" cy="439420"/>
          </a:xfrm>
          <a:prstGeom prst="rect">
            <a:avLst/>
          </a:prstGeom>
          <a:noFill/>
        </p:spPr>
        <p:txBody>
          <a:bodyPr wrap="square" rtlCol="0">
            <a:noAutofit/>
          </a:bodyPr>
          <a:lstStyle/>
          <a:p>
            <a:r>
              <a:rPr lang="en-US" sz="1100"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sz="1100" i="0" dirty="0">
                <a:solidFill>
                  <a:schemeClr val="tx1"/>
                </a:solidFill>
              </a:rPr>
              <a:t>”)</a:t>
            </a:r>
            <a:endParaRPr lang="en-US" sz="1100" i="0" dirty="0">
              <a:solidFill>
                <a:schemeClr val="tx1"/>
              </a:solidFill>
            </a:endParaRPr>
          </a:p>
          <a:p>
            <a:pPr marL="0" lvl="0" indent="0" algn="ctr" rtl="0">
              <a:spcBef>
                <a:spcPts val="0"/>
              </a:spcBef>
              <a:spcAft>
                <a:spcPts val="0"/>
              </a:spcAft>
              <a:buNone/>
            </a:pPr>
            <a:endParaRPr lang="en-US" sz="1100" i="0" dirty="0"/>
          </a:p>
          <a:p>
            <a:pPr algn="ctr"/>
            <a:endParaRPr lang="en-US" sz="1200"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190500" y="1295400"/>
            <a:ext cx="8763000" cy="38515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p:nvPr/>
        </p:nvSpPr>
        <p:spPr>
          <a:xfrm>
            <a:off x="1487713" y="270532"/>
            <a:ext cx="6284687" cy="862283"/>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Clr>
                <a:schemeClr val="dk1"/>
              </a:buClr>
              <a:buSzPts val="4000"/>
              <a:buFont typeface="Bookman Old Style" panose="02050604050505020204"/>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Future Scope</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02" name="Google Shape;202;p21"/>
          <p:cNvSpPr txBox="1">
            <a:spLocks noGrp="1"/>
          </p:cNvSpPr>
          <p:nvPr>
            <p:ph type="ftr" idx="11"/>
          </p:nvPr>
        </p:nvSpPr>
        <p:spPr>
          <a:xfrm>
            <a:off x="1737692" y="6623754"/>
            <a:ext cx="5135216" cy="36512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pPr marL="0" lvl="0" indent="0" algn="ctr" rtl="0">
              <a:spcBef>
                <a:spcPts val="0"/>
              </a:spcBef>
              <a:spcAft>
                <a:spcPts val="0"/>
              </a:spcAft>
              <a:buNone/>
            </a:pPr>
            <a:endParaRPr lang="en-US" i="0" dirty="0"/>
          </a:p>
          <a:p>
            <a:pPr marL="0" lvl="0" indent="0" algn="ctr" rtl="0">
              <a:spcBef>
                <a:spcPts val="0"/>
              </a:spcBef>
              <a:spcAft>
                <a:spcPts val="0"/>
              </a:spcAft>
              <a:buNone/>
            </a:pPr>
            <a:endParaRPr lang="en-US" i="0" dirty="0"/>
          </a:p>
        </p:txBody>
      </p:sp>
      <p:sp>
        <p:nvSpPr>
          <p:cNvPr id="2" name="Rectangle 1"/>
          <p:cNvSpPr>
            <a:spLocks noChangeArrowheads="1"/>
          </p:cNvSpPr>
          <p:nvPr/>
        </p:nvSpPr>
        <p:spPr bwMode="auto">
          <a:xfrm>
            <a:off x="685800" y="1501327"/>
            <a:ext cx="72390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Authentication &amp; Personalization:</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News Recommendations:</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Multi-Language Support:</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lang="en-IN" sz="2200" dirty="0">
                <a:latin typeface="Times New Roman" panose="02020603050405020304" pitchFamily="18" charset="0"/>
                <a:cs typeface="Times New Roman" panose="02020603050405020304" pitchFamily="18" charset="0"/>
              </a:rPr>
              <a:t>Voice Search and Text-to-Speech:</a:t>
            </a:r>
            <a:endParaRPr lang="en-US" sz="2200" dirty="0">
              <a:solidFill>
                <a:schemeClr val="tx1"/>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lang="en-IN" sz="2200" dirty="0">
                <a:latin typeface="Times New Roman" panose="02020603050405020304" pitchFamily="18" charset="0"/>
                <a:cs typeface="Times New Roman" panose="02020603050405020304" pitchFamily="18" charset="0"/>
              </a:rPr>
              <a:t>Live News Updates &amp; Streaming:</a:t>
            </a:r>
            <a:endParaRPr lang="en-US" sz="2200"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buFontTx/>
              <a:buChar char="•"/>
            </a:pPr>
            <a:r>
              <a:rPr lang="en-IN" sz="2200" dirty="0">
                <a:latin typeface="Times New Roman" panose="02020603050405020304" pitchFamily="18" charset="0"/>
                <a:cs typeface="Times New Roman" panose="02020603050405020304" pitchFamily="18" charset="0"/>
              </a:rPr>
              <a:t>Offline Access:</a:t>
            </a:r>
            <a:endParaRPr lang="en-IN" sz="22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lang="en-IN" sz="2200" dirty="0">
                <a:latin typeface="Times New Roman" panose="02020603050405020304" pitchFamily="18" charset="0"/>
                <a:cs typeface="Times New Roman" panose="02020603050405020304" pitchFamily="18" charset="0"/>
              </a:rPr>
              <a:t>Collaborations with Journalists &amp; Publications:</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Search &amp; Filters:</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 Integration:</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Monetization Opportunities:.</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p:nvPr/>
        </p:nvSpPr>
        <p:spPr>
          <a:xfrm>
            <a:off x="1487713" y="270532"/>
            <a:ext cx="6284687" cy="862283"/>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Clr>
                <a:schemeClr val="dk1"/>
              </a:buClr>
              <a:buSzPts val="4000"/>
              <a:buFont typeface="Bookman Old Style" panose="02050604050505020204"/>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Conclusion</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02" name="Google Shape;202;p21"/>
          <p:cNvSpPr txBox="1">
            <a:spLocks noGrp="1"/>
          </p:cNvSpPr>
          <p:nvPr>
            <p:ph type="ftr" idx="11"/>
          </p:nvPr>
        </p:nvSpPr>
        <p:spPr>
          <a:xfrm>
            <a:off x="1963292" y="6666773"/>
            <a:ext cx="5135216" cy="36512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pPr marL="0" lvl="0" indent="0" algn="ctr" rtl="0">
              <a:spcBef>
                <a:spcPts val="0"/>
              </a:spcBef>
              <a:spcAft>
                <a:spcPts val="0"/>
              </a:spcAft>
              <a:buNone/>
            </a:pPr>
            <a:endParaRPr lang="en-US" i="0" dirty="0"/>
          </a:p>
          <a:p>
            <a:pPr marL="0" lvl="0" indent="0" algn="ctr" rtl="0">
              <a:spcBef>
                <a:spcPts val="0"/>
              </a:spcBef>
              <a:spcAft>
                <a:spcPts val="0"/>
              </a:spcAft>
              <a:buNone/>
            </a:pPr>
            <a:endParaRPr lang="en-US" i="0" dirty="0"/>
          </a:p>
        </p:txBody>
      </p:sp>
      <p:sp>
        <p:nvSpPr>
          <p:cNvPr id="203" name="Google Shape;203;p21"/>
          <p:cNvSpPr txBox="1"/>
          <p:nvPr/>
        </p:nvSpPr>
        <p:spPr>
          <a:xfrm>
            <a:off x="533400" y="1676400"/>
            <a:ext cx="7995000" cy="4384738"/>
          </a:xfrm>
          <a:prstGeom prst="rect">
            <a:avLst/>
          </a:prstGeom>
          <a:noFill/>
          <a:ln>
            <a:noFill/>
          </a:ln>
        </p:spPr>
        <p:txBody>
          <a:bodyPr spcFirstLastPara="1" wrap="square" lIns="91425" tIns="91425" rIns="91425" bIns="91425" anchor="t" anchorCtr="0">
            <a:noAutofit/>
          </a:bodyPr>
          <a:lstStyle/>
          <a:p>
            <a:pPr algn="just">
              <a:buNone/>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News Aggregator System</a:t>
            </a:r>
            <a:r>
              <a:rPr lang="en-US" sz="2200" dirty="0">
                <a:latin typeface="Times New Roman" panose="02020603050405020304" pitchFamily="18" charset="0"/>
                <a:cs typeface="Times New Roman" panose="02020603050405020304" pitchFamily="18" charset="0"/>
              </a:rPr>
              <a:t> is an efficient and user-friendly platform that centralizes news from multiple sources using the </a:t>
            </a:r>
            <a:r>
              <a:rPr lang="en-US" sz="2200" dirty="0" err="1">
                <a:latin typeface="Times New Roman" panose="02020603050405020304" pitchFamily="18" charset="0"/>
                <a:cs typeface="Times New Roman" panose="02020603050405020304" pitchFamily="18" charset="0"/>
              </a:rPr>
              <a:t>GNews</a:t>
            </a:r>
            <a:r>
              <a:rPr lang="en-US" sz="2200" dirty="0">
                <a:latin typeface="Times New Roman" panose="02020603050405020304" pitchFamily="18" charset="0"/>
                <a:cs typeface="Times New Roman" panose="02020603050405020304" pitchFamily="18" charset="0"/>
              </a:rPr>
              <a:t> API, providing real-time updates across various categories. Built with </a:t>
            </a:r>
            <a:r>
              <a:rPr lang="en-US" sz="2200" b="1" dirty="0">
                <a:latin typeface="Times New Roman" panose="02020603050405020304" pitchFamily="18" charset="0"/>
                <a:cs typeface="Times New Roman" panose="02020603050405020304" pitchFamily="18" charset="0"/>
              </a:rPr>
              <a:t>Django (Python)</a:t>
            </a:r>
            <a:r>
              <a:rPr lang="en-US" sz="2200" dirty="0">
                <a:latin typeface="Times New Roman" panose="02020603050405020304" pitchFamily="18" charset="0"/>
                <a:cs typeface="Times New Roman" panose="02020603050405020304" pitchFamily="18" charset="0"/>
              </a:rPr>
              <a:t> for the backend and </a:t>
            </a:r>
            <a:r>
              <a:rPr lang="en-US" sz="2200" b="1" dirty="0">
                <a:latin typeface="Times New Roman" panose="02020603050405020304" pitchFamily="18" charset="0"/>
                <a:cs typeface="Times New Roman" panose="02020603050405020304" pitchFamily="18" charset="0"/>
              </a:rPr>
              <a:t>HTML, CSS, and JavaScript</a:t>
            </a:r>
            <a:r>
              <a:rPr lang="en-US" sz="2200" dirty="0">
                <a:latin typeface="Times New Roman" panose="02020603050405020304" pitchFamily="18" charset="0"/>
                <a:cs typeface="Times New Roman" panose="02020603050405020304" pitchFamily="18" charset="0"/>
              </a:rPr>
              <a:t> for the frontend, the system delivers a seamless and responsive user experience.</a:t>
            </a: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This project addresses the challenges of fragmented news consumption by offering features like category filtering, keyword search, and dynamic content delivery. Users can easily access and navigate the latest information in one place, saving time and enhancing their browsing experience.</a:t>
            </a:r>
            <a:endParaRPr lang="en-US" sz="2200" dirty="0">
              <a:latin typeface="Times New Roman" panose="02020603050405020304" pitchFamily="18" charset="0"/>
              <a:cs typeface="Times New Roman" panose="02020603050405020304" pitchFamily="18" charset="0"/>
            </a:endParaRPr>
          </a:p>
          <a:p>
            <a:pPr lvl="0" algn="just"/>
            <a:endParaRPr lang="en-US" sz="2200" dirty="0">
              <a:latin typeface="Times New Roman" panose="02020603050405020304" pitchFamily="18" charset="0"/>
              <a:cs typeface="Times New Roman" panose="02020603050405020304" pitchFamily="18" charset="0"/>
            </a:endParaRPr>
          </a:p>
        </p:txBody>
      </p:sp>
      <p:sp>
        <p:nvSpPr>
          <p:cNvPr id="204" name="Google Shape;204;p21"/>
          <p:cNvSpPr txBox="1"/>
          <p:nvPr/>
        </p:nvSpPr>
        <p:spPr>
          <a:xfrm>
            <a:off x="928671" y="2661675"/>
            <a:ext cx="51276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p:nvPr/>
        </p:nvSpPr>
        <p:spPr>
          <a:xfrm>
            <a:off x="1487713" y="270532"/>
            <a:ext cx="6284687" cy="862283"/>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Clr>
                <a:schemeClr val="dk1"/>
              </a:buClr>
              <a:buSzPts val="4000"/>
              <a:buFont typeface="Bookman Old Style" panose="02050604050505020204"/>
              <a:buNone/>
            </a:pPr>
            <a:r>
              <a:rPr lang="en-US" sz="3600" b="1" i="1" dirty="0">
                <a:solidFill>
                  <a:srgbClr val="0070C0"/>
                </a:solidFill>
                <a:latin typeface="Bookman Old Style" panose="02050604050505020204" pitchFamily="18" charset="0"/>
                <a:ea typeface="Bookman Old Style" panose="02050604050505020204"/>
                <a:cs typeface="Bookman Old Style" panose="02050604050505020204"/>
                <a:sym typeface="Bookman Old Style" panose="02050604050505020204"/>
              </a:rPr>
              <a:t>References</a:t>
            </a:r>
            <a:endParaRPr sz="3600" b="1" i="1" dirty="0">
              <a:solidFill>
                <a:srgbClr val="0070C0"/>
              </a:solidFill>
              <a:latin typeface="Bookman Old Style" panose="02050604050505020204" pitchFamily="18" charset="0"/>
              <a:ea typeface="Bookman Old Style" panose="02050604050505020204"/>
              <a:cs typeface="Bookman Old Style" panose="02050604050505020204"/>
              <a:sym typeface="Bookman Old Style" panose="02050604050505020204"/>
            </a:endParaRPr>
          </a:p>
        </p:txBody>
      </p:sp>
      <p:sp>
        <p:nvSpPr>
          <p:cNvPr id="202" name="Google Shape;202;p21"/>
          <p:cNvSpPr txBox="1">
            <a:spLocks noGrp="1"/>
          </p:cNvSpPr>
          <p:nvPr>
            <p:ph type="ftr" idx="11"/>
          </p:nvPr>
        </p:nvSpPr>
        <p:spPr>
          <a:xfrm>
            <a:off x="2004392" y="6556761"/>
            <a:ext cx="5135216" cy="36512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pPr marL="0" lvl="0" indent="0" algn="ctr" rtl="0">
              <a:spcBef>
                <a:spcPts val="0"/>
              </a:spcBef>
              <a:spcAft>
                <a:spcPts val="0"/>
              </a:spcAft>
              <a:buNone/>
            </a:pPr>
            <a:endParaRPr lang="en-US" i="0" dirty="0"/>
          </a:p>
        </p:txBody>
      </p:sp>
      <p:sp>
        <p:nvSpPr>
          <p:cNvPr id="203" name="Google Shape;203;p21"/>
          <p:cNvSpPr txBox="1"/>
          <p:nvPr/>
        </p:nvSpPr>
        <p:spPr>
          <a:xfrm>
            <a:off x="533400" y="1676400"/>
            <a:ext cx="7995000" cy="4384738"/>
          </a:xfrm>
          <a:prstGeom prst="rect">
            <a:avLst/>
          </a:prstGeom>
          <a:noFill/>
          <a:ln>
            <a:noFill/>
          </a:ln>
        </p:spPr>
        <p:txBody>
          <a:bodyPr spcFirstLastPara="1" wrap="square" lIns="91425" tIns="91425" rIns="91425" bIns="91425" anchor="t" anchorCtr="0">
            <a:noAutofit/>
          </a:bodyPr>
          <a:lstStyle/>
          <a:p>
            <a:pPr algn="just" fontAlgn="ctr"/>
            <a:endParaRPr lang="en-US" sz="2000" dirty="0">
              <a:latin typeface="Times New Roman" panose="02020603050405020304" pitchFamily="18" charset="0"/>
              <a:cs typeface="Times New Roman" panose="02020603050405020304" pitchFamily="18" charset="0"/>
            </a:endParaRPr>
          </a:p>
          <a:p>
            <a:pPr algn="just"/>
            <a:endParaRPr lang="en-US" sz="2000" i="1" dirty="0">
              <a:latin typeface="Times New Roman" panose="02020603050405020304" pitchFamily="18" charset="0"/>
              <a:cs typeface="Times New Roman" panose="02020603050405020304" pitchFamily="18" charset="0"/>
            </a:endParaRPr>
          </a:p>
          <a:p>
            <a:pPr lvl="0" algn="just"/>
            <a:endParaRPr lang="en-US" sz="1800" dirty="0">
              <a:latin typeface="18"/>
            </a:endParaRPr>
          </a:p>
        </p:txBody>
      </p:sp>
      <p:sp>
        <p:nvSpPr>
          <p:cNvPr id="204" name="Google Shape;204;p21"/>
          <p:cNvSpPr txBox="1"/>
          <p:nvPr/>
        </p:nvSpPr>
        <p:spPr>
          <a:xfrm>
            <a:off x="928671" y="2661675"/>
            <a:ext cx="51276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a:latin typeface="Calibri" panose="020F0502020204030204"/>
              <a:ea typeface="Calibri" panose="020F0502020204030204"/>
              <a:cs typeface="Calibri" panose="020F0502020204030204"/>
              <a:sym typeface="Calibri" panose="020F0502020204030204"/>
            </a:endParaRPr>
          </a:p>
        </p:txBody>
      </p:sp>
      <p:sp>
        <p:nvSpPr>
          <p:cNvPr id="3" name="TextBox 1"/>
          <p:cNvSpPr txBox="1"/>
          <p:nvPr/>
        </p:nvSpPr>
        <p:spPr>
          <a:xfrm>
            <a:off x="324755" y="1429946"/>
            <a:ext cx="8610601" cy="50629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342900" indent="-342900">
              <a:buFont typeface="+mj-lt"/>
              <a:buAutoNum type="arabicPeriod"/>
            </a:pPr>
            <a:r>
              <a:rPr lang="en-US" sz="1700" b="1" dirty="0">
                <a:latin typeface="Times New Roman" panose="02020603050405020304" pitchFamily="18" charset="0"/>
                <a:cs typeface="Times New Roman" panose="02020603050405020304" pitchFamily="18" charset="0"/>
              </a:rPr>
              <a:t>"News Aggregator Web Application Using Django -</a:t>
            </a:r>
            <a:r>
              <a:rPr lang="en-US" sz="1700" dirty="0">
                <a:latin typeface="Times New Roman" panose="02020603050405020304" pitchFamily="18" charset="0"/>
                <a:cs typeface="Times New Roman" panose="02020603050405020304" pitchFamily="18" charset="0"/>
              </a:rPr>
              <a:t>July 2025. chrome-extension://</a:t>
            </a:r>
            <a:r>
              <a:rPr lang="en-US" sz="1700" dirty="0" err="1">
                <a:latin typeface="Times New Roman" panose="02020603050405020304" pitchFamily="18" charset="0"/>
                <a:cs typeface="Times New Roman" panose="02020603050405020304" pitchFamily="18" charset="0"/>
              </a:rPr>
              <a:t>kdpelmjpfafjppnhbloffcjpeomlnpah</a:t>
            </a:r>
            <a:r>
              <a:rPr lang="en-US" sz="1700" dirty="0">
                <a:latin typeface="Times New Roman" panose="02020603050405020304" pitchFamily="18" charset="0"/>
                <a:cs typeface="Times New Roman" panose="02020603050405020304" pitchFamily="18" charset="0"/>
              </a:rPr>
              <a:t>/https://ijcrt.org/papers/IJCRT2107231.pdf</a:t>
            </a:r>
            <a:endParaRPr lang="en-US" sz="17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17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700" b="1" dirty="0">
                <a:latin typeface="Times New Roman" panose="02020603050405020304" pitchFamily="18" charset="0"/>
                <a:cs typeface="Times New Roman" panose="02020603050405020304" pitchFamily="18" charset="0"/>
              </a:rPr>
              <a:t>"Build a News Aggregator Like Google News"</a:t>
            </a:r>
            <a:r>
              <a:rPr lang="en-US" sz="1700" dirty="0">
                <a:latin typeface="Times New Roman" panose="02020603050405020304" pitchFamily="18" charset="0"/>
                <a:cs typeface="Times New Roman" panose="02020603050405020304" pitchFamily="18" charset="0"/>
              </a:rPr>
              <a:t> by Pratik Dhakal. </a:t>
            </a:r>
            <a:r>
              <a:rPr lang="en-US" sz="1700" i="1" dirty="0">
                <a:latin typeface="Times New Roman" panose="02020603050405020304" pitchFamily="18" charset="0"/>
                <a:cs typeface="Times New Roman" panose="02020603050405020304" pitchFamily="18" charset="0"/>
              </a:rPr>
              <a:t>Inspiring Lab</a:t>
            </a:r>
            <a:r>
              <a:rPr lang="en-US" sz="1700" dirty="0">
                <a:latin typeface="Times New Roman" panose="02020603050405020304" pitchFamily="18" charset="0"/>
                <a:cs typeface="Times New Roman" panose="02020603050405020304" pitchFamily="18" charset="0"/>
              </a:rPr>
              <a:t>, December 2, 2024. </a:t>
            </a:r>
            <a:r>
              <a:rPr lang="en-IN" sz="1700" dirty="0">
                <a:latin typeface="Times New Roman" panose="02020603050405020304" pitchFamily="18" charset="0"/>
                <a:cs typeface="Times New Roman" panose="02020603050405020304" pitchFamily="18" charset="0"/>
                <a:hlinkClick r:id="rId1"/>
              </a:rPr>
              <a:t>https://inspiringlab.com.np/build-a-news-aggregator-like-google-news/?utm_source=chatgpt.com</a:t>
            </a:r>
            <a:r>
              <a:rPr lang="en-IN" sz="1700" dirty="0">
                <a:latin typeface="Times New Roman" panose="02020603050405020304" pitchFamily="18" charset="0"/>
                <a:cs typeface="Times New Roman" panose="02020603050405020304" pitchFamily="18" charset="0"/>
              </a:rPr>
              <a:t> </a:t>
            </a:r>
            <a:endParaRPr lang="en-IN" sz="17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17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700" b="1" dirty="0">
                <a:latin typeface="Times New Roman" panose="02020603050405020304" pitchFamily="18" charset="0"/>
                <a:cs typeface="Times New Roman" panose="02020603050405020304" pitchFamily="18" charset="0"/>
              </a:rPr>
              <a:t>"How I Designed a News Aggregator Web Application Using Django"</a:t>
            </a:r>
            <a:r>
              <a:rPr lang="en-US" sz="1700" dirty="0">
                <a:latin typeface="Times New Roman" panose="02020603050405020304" pitchFamily="18" charset="0"/>
                <a:cs typeface="Times New Roman" panose="02020603050405020304" pitchFamily="18" charset="0"/>
              </a:rPr>
              <a:t> by Jonathan Okah. </a:t>
            </a:r>
            <a:r>
              <a:rPr lang="en-US" sz="1700" i="1" dirty="0" err="1">
                <a:latin typeface="Times New Roman" panose="02020603050405020304" pitchFamily="18" charset="0"/>
                <a:cs typeface="Times New Roman" panose="02020603050405020304" pitchFamily="18" charset="0"/>
              </a:rPr>
              <a:t>Finxter</a:t>
            </a:r>
            <a:r>
              <a:rPr lang="en-US" sz="1700" dirty="0">
                <a:latin typeface="Times New Roman" panose="02020603050405020304" pitchFamily="18" charset="0"/>
                <a:cs typeface="Times New Roman" panose="02020603050405020304" pitchFamily="18" charset="0"/>
              </a:rPr>
              <a:t>, May 15, 2023</a:t>
            </a:r>
            <a:r>
              <a:rPr lang="en-IN" sz="1700" dirty="0">
                <a:latin typeface="Times New Roman" panose="02020603050405020304" pitchFamily="18" charset="0"/>
                <a:cs typeface="Times New Roman" panose="02020603050405020304" pitchFamily="18" charset="0"/>
              </a:rPr>
              <a:t>                                                                                                                         https://blog.finxter.com/how-i-designed-a-news-aggregator-web-application-using-django/</a:t>
            </a:r>
            <a:endParaRPr lang="en-IN" sz="17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17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700" b="1" dirty="0">
                <a:latin typeface="Times New Roman" panose="02020603050405020304" pitchFamily="18" charset="0"/>
                <a:cs typeface="Times New Roman" panose="02020603050405020304" pitchFamily="18" charset="0"/>
              </a:rPr>
              <a:t>"Building News Aggregator Web App with Django Using Python Web Scraping"</a:t>
            </a:r>
            <a:r>
              <a:rPr lang="en-US" sz="1700" dirty="0">
                <a:latin typeface="Times New Roman" panose="02020603050405020304" pitchFamily="18" charset="0"/>
                <a:cs typeface="Times New Roman" panose="02020603050405020304" pitchFamily="18" charset="0"/>
              </a:rPr>
              <a:t> by Rajan Kumar. </a:t>
            </a:r>
            <a:r>
              <a:rPr lang="en-US" sz="1700" i="1" dirty="0" err="1">
                <a:latin typeface="Times New Roman" panose="02020603050405020304" pitchFamily="18" charset="0"/>
                <a:cs typeface="Times New Roman" panose="02020603050405020304" pitchFamily="18" charset="0"/>
              </a:rPr>
              <a:t>HackersFriend</a:t>
            </a:r>
            <a:r>
              <a:rPr lang="en-US" sz="1700" dirty="0">
                <a:latin typeface="Times New Roman" panose="02020603050405020304" pitchFamily="18" charset="0"/>
                <a:cs typeface="Times New Roman" panose="02020603050405020304" pitchFamily="18" charset="0"/>
              </a:rPr>
              <a:t>, January 12, 2020                                                                                            </a:t>
            </a:r>
            <a:r>
              <a:rPr lang="en-US" sz="1700" dirty="0">
                <a:latin typeface="Times New Roman" panose="02020603050405020304" pitchFamily="18" charset="0"/>
                <a:cs typeface="Times New Roman" panose="02020603050405020304" pitchFamily="18" charset="0"/>
                <a:hlinkClick r:id="rId1"/>
              </a:rPr>
              <a:t>https://inspiringlab.com.np/build-a-news-aggregator-like-google-news/?utm_source=chatgpt.com</a:t>
            </a:r>
            <a:endParaRPr lang="en-US" sz="17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700" b="1" dirty="0">
                <a:latin typeface="Times New Roman" panose="02020603050405020304" pitchFamily="18" charset="0"/>
                <a:cs typeface="Times New Roman" panose="02020603050405020304" pitchFamily="18" charset="0"/>
              </a:rPr>
              <a:t>"Build a News App Using Django"</a:t>
            </a:r>
            <a:r>
              <a:rPr lang="en-US" sz="1700" dirty="0">
                <a:latin typeface="Times New Roman" panose="02020603050405020304" pitchFamily="18" charset="0"/>
                <a:cs typeface="Times New Roman" panose="02020603050405020304" pitchFamily="18" charset="0"/>
              </a:rPr>
              <a:t> by Max. </a:t>
            </a:r>
            <a:r>
              <a:rPr lang="en-US" sz="1700" i="1" dirty="0">
                <a:latin typeface="Times New Roman" panose="02020603050405020304" pitchFamily="18" charset="0"/>
                <a:cs typeface="Times New Roman" panose="02020603050405020304" pitchFamily="18" charset="0"/>
              </a:rPr>
              <a:t>DEV Community</a:t>
            </a:r>
            <a:r>
              <a:rPr lang="en-US" sz="1700" dirty="0">
                <a:latin typeface="Times New Roman" panose="02020603050405020304" pitchFamily="18" charset="0"/>
                <a:cs typeface="Times New Roman" panose="02020603050405020304" pitchFamily="18" charset="0"/>
              </a:rPr>
              <a:t>, August 15, 2020. https://dev.to/max236/news-app-in-django-2dcd</a:t>
            </a:r>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2"/>
          <p:cNvSpPr txBox="1">
            <a:spLocks noGrp="1"/>
          </p:cNvSpPr>
          <p:nvPr>
            <p:ph type="ctrTitle"/>
          </p:nvPr>
        </p:nvSpPr>
        <p:spPr>
          <a:xfrm>
            <a:off x="685800" y="2691835"/>
            <a:ext cx="7772400" cy="1102519"/>
          </a:xfrm>
          <a:prstGeom prst="rect">
            <a:avLst/>
          </a:prstGeom>
          <a:noFill/>
          <a:ln>
            <a:noFill/>
          </a:ln>
        </p:spPr>
        <p:txBody>
          <a:bodyPr spcFirstLastPara="1" wrap="square" lIns="68550" tIns="34275" rIns="68550" bIns="34275" anchor="ctr" anchorCtr="0">
            <a:noAutofit/>
          </a:bodyPr>
          <a:lstStyle/>
          <a:p>
            <a:pPr marL="0" lvl="0" indent="0" algn="ctr" rtl="0">
              <a:spcBef>
                <a:spcPts val="0"/>
              </a:spcBef>
              <a:spcAft>
                <a:spcPts val="0"/>
              </a:spcAft>
              <a:buClr>
                <a:srgbClr val="0070C0"/>
              </a:buClr>
              <a:buSzPts val="7200"/>
              <a:buFont typeface="Bookman Old Style" panose="02050604050505020204"/>
              <a:buNone/>
            </a:pPr>
            <a:r>
              <a:rPr lang="en-US" sz="7200" b="1" i="1">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THANK YOU!</a:t>
            </a:r>
            <a:endParaRPr sz="7200" b="1" i="1">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11" name="Google Shape;211;p22"/>
          <p:cNvSpPr txBox="1">
            <a:spLocks noGrp="1"/>
          </p:cNvSpPr>
          <p:nvPr>
            <p:ph type="ftr" idx="11"/>
          </p:nvPr>
        </p:nvSpPr>
        <p:spPr>
          <a:xfrm>
            <a:off x="1981200" y="6336889"/>
            <a:ext cx="5135216" cy="42213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a:t>
            </a:r>
            <a:r>
              <a:rPr lang="en-US" sz="1200"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NEWS AGGREGATOR SYSTEM</a:t>
            </a:r>
            <a:r>
              <a:rPr lang="en-US" i="0" dirty="0">
                <a:solidFill>
                  <a:schemeClr val="tx1"/>
                </a:solidFill>
              </a:rPr>
              <a:t>”)</a:t>
            </a:r>
            <a:endParaRPr lang="en-US" i="0" dirty="0">
              <a:solidFill>
                <a:schemeClr val="tx1"/>
              </a:solidFill>
            </a:endParaRPr>
          </a:p>
          <a:p>
            <a:pPr marL="0" lvl="0" indent="0" algn="ctr" rtl="0">
              <a:spcBef>
                <a:spcPts val="0"/>
              </a:spcBef>
              <a:spcAft>
                <a:spcPts val="0"/>
              </a:spcAft>
              <a:buNone/>
            </a:pPr>
            <a:endParaRPr lang="en-US" dirty="0"/>
          </a:p>
        </p:txBody>
      </p:sp>
    </p:spTree>
  </p:cSld>
  <p:clrMapOvr>
    <a:masterClrMapping/>
  </p:clrMapOvr>
</p:sld>
</file>

<file path=ppt/tags/tag1.xml><?xml version="1.0" encoding="utf-8"?>
<p:tagLst xmlns:p="http://schemas.openxmlformats.org/presentationml/2006/main">
  <p:tag name="TABLE_ENDDRAG_ORIGIN_RECT" val="672*295"/>
  <p:tag name="TABLE_ENDDRAG_RECT" val="34*209*672*295"/>
</p:tagLst>
</file>

<file path=ppt/theme/theme1.xml><?xml version="1.0" encoding="utf-8"?>
<a:theme xmlns:a="http://schemas.openxmlformats.org/drawingml/2006/main" name="ICINC">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7561</Words>
  <Application>WPS Slides</Application>
  <PresentationFormat>On-screen Show (4:3)</PresentationFormat>
  <Paragraphs>279</Paragraphs>
  <Slides>17</Slides>
  <Notes>17</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17</vt:i4>
      </vt:variant>
    </vt:vector>
  </HeadingPairs>
  <TitlesOfParts>
    <vt:vector size="35" baseType="lpstr">
      <vt:lpstr>Arial</vt:lpstr>
      <vt:lpstr>SimSun</vt:lpstr>
      <vt:lpstr>Wingdings</vt:lpstr>
      <vt:lpstr>Arial</vt:lpstr>
      <vt:lpstr>Calibri</vt:lpstr>
      <vt:lpstr>Times New Roman</vt:lpstr>
      <vt:lpstr>Times New Roman</vt:lpstr>
      <vt:lpstr>Bookman Old Style</vt:lpstr>
      <vt:lpstr>Bookman Old Style</vt:lpstr>
      <vt:lpstr>Arial Italics</vt:lpstr>
      <vt:lpstr>Times New Roman Bold</vt:lpstr>
      <vt:lpstr>TT Phobos Bold Italics</vt:lpstr>
      <vt:lpstr>Yu Gothic UI Semibold</vt:lpstr>
      <vt:lpstr>18</vt:lpstr>
      <vt:lpstr>Microsoft YaHei</vt:lpstr>
      <vt:lpstr>Arial Unicode MS</vt:lpstr>
      <vt:lpstr>AMGDT</vt:lpstr>
      <vt:lpstr>ICINC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Result / Output</vt:lpstr>
      <vt:lpstr>Result / Output</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Soham Personal</cp:lastModifiedBy>
  <cp:revision>59</cp:revision>
  <dcterms:created xsi:type="dcterms:W3CDTF">2024-09-06T06:25:00Z</dcterms:created>
  <dcterms:modified xsi:type="dcterms:W3CDTF">2025-04-26T05:02:17Z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14FC915AD48E460EBEF968382771A24E_13</vt:lpwstr>
  </property>
  <property fmtid="{D5CDD505-2E9C-101B-9397-08002B2CF9AE}" pid="3" name="KSOProductBuildVer">
    <vt:lpwstr>1033-12.2.0.20795</vt:lpwstr>
  </property>
</Properties>
</file>